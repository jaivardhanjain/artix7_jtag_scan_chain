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2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5F678-249A-4EC5-A89F-73EFED84B311}" type="datetimeFigureOut">
              <a:rPr lang="en-IN" smtClean="0"/>
              <a:t>25-04-2026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A7FF3F-5D98-4AB9-9371-B95830DFAD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6882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A7FF3F-5D98-4AB9-9371-B95830DFADE0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167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3E0C15EB-11A8-4073-9BA2-1D03C550BAC6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A80986F6-55B0-4AD3-8101-AB3165EA3A1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AA5C7C22-3F97-47AA-95DE-6D6523611C4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05E2F925-444A-4D74-BCCC-B5C6F81EFE48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B80ED8EA-27C3-4C91-9BFD-34412DED97DA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18AF6BE9-3229-4AE1-B0F0-205C1DE2A9BE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08A0ED7A-E20B-4D1A-A5A9-C32DFD637B0F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47732F95-17D3-4184-AC4E-63D67B8BA68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F81701CF-0339-4F49-9F6D-C768F4ECDFE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774F4EE5-DA2A-464D-9C49-92486F53FBA7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205DBB25-FD08-42E5-AB05-EEF033C6D279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lstStyle/>
          <a:p>
            <a:fld id="{CFB92113-BDA4-49A4-A874-CE2AA3EB05D2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lstStyle/>
          <a:p>
            <a:r>
              <a:rPr lang="en-IN" sz="5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pos="0" algn="l"/>
              </a:tabLst>
              <a:defRPr lang="en-GB" sz="1000" b="0" strike="noStrike" spc="-1">
                <a:solidFill>
                  <a:srgbClr val="595959"/>
                </a:solidFill>
                <a:latin typeface="Source Sans Pro"/>
                <a:ea typeface="Source Sans Pro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pos="0" algn="l"/>
              </a:tabLst>
            </a:pPr>
            <a:fld id="{F0EE7C15-0443-4C65-978C-E907A5EE8719}" type="slidenum">
              <a:rPr lang="en-GB" sz="1000" b="0" strike="noStrike" spc="-1">
                <a:solidFill>
                  <a:srgbClr val="595959"/>
                </a:solidFill>
                <a:latin typeface="Source Sans Pro"/>
                <a:ea typeface="Source Sans Pro"/>
              </a:rPr>
              <a:t>‹#›</a:t>
            </a:fld>
            <a:endParaRPr lang="en-IN" sz="10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49;p12"/>
          <p:cNvSpPr/>
          <p:nvPr/>
        </p:nvSpPr>
        <p:spPr>
          <a:xfrm>
            <a:off x="0" y="4874400"/>
            <a:ext cx="9143640" cy="26964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40" name="Google Shape;50;p12"/>
          <p:cNvSpPr/>
          <p:nvPr/>
        </p:nvSpPr>
        <p:spPr>
          <a:xfrm>
            <a:off x="0" y="0"/>
            <a:ext cx="9143640" cy="3931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41" name="Google Shape;51;p12"/>
          <p:cNvSpPr/>
          <p:nvPr/>
        </p:nvSpPr>
        <p:spPr>
          <a:xfrm>
            <a:off x="3868920" y="4874400"/>
            <a:ext cx="140616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2880" bIns="18288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0" strike="noStrike" spc="-1">
                <a:solidFill>
                  <a:srgbClr val="FFFFFF"/>
                </a:solidFill>
                <a:latin typeface="Arial"/>
                <a:ea typeface="Arial"/>
              </a:rPr>
              <a:t>M.Tech Seminar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42" name="Google Shape;52;p12"/>
          <p:cNvSpPr/>
          <p:nvPr/>
        </p:nvSpPr>
        <p:spPr>
          <a:xfrm>
            <a:off x="8345160" y="4919400"/>
            <a:ext cx="677160" cy="1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0" bIns="180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fld id="{EF16E2D4-E39C-4F4A-8567-45649BFE2E28}" type="slidenum">
              <a:rPr lang="en-GB" sz="1200" b="0" strike="noStrike" spc="-1">
                <a:solidFill>
                  <a:srgbClr val="FFF2CC"/>
                </a:solidFill>
                <a:latin typeface="Arial"/>
                <a:ea typeface="Arial"/>
              </a:rPr>
              <a:t>‹#›</a:t>
            </a:fld>
            <a:endParaRPr lang="en-IN" sz="1200" b="0" strike="noStrike" spc="-1">
              <a:latin typeface="Arial"/>
            </a:endParaRPr>
          </a:p>
        </p:txBody>
      </p:sp>
      <p:sp>
        <p:nvSpPr>
          <p:cNvPr id="43" name="Google Shape;53;p12"/>
          <p:cNvSpPr/>
          <p:nvPr/>
        </p:nvSpPr>
        <p:spPr>
          <a:xfrm>
            <a:off x="8172360" y="0"/>
            <a:ext cx="971280" cy="38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000" b="0" strike="noStrike" spc="-1">
                <a:solidFill>
                  <a:srgbClr val="FFFFFF"/>
                </a:solidFill>
                <a:latin typeface="Arial"/>
                <a:ea typeface="Arial"/>
              </a:rPr>
              <a:t>IIT Bombay</a:t>
            </a:r>
            <a:endParaRPr lang="en-IN" sz="1000" b="0" strike="noStrike" spc="-1">
              <a:latin typeface="Arial"/>
            </a:endParaRPr>
          </a:p>
        </p:txBody>
      </p:sp>
      <p:sp>
        <p:nvSpPr>
          <p:cNvPr id="44" name="Google Shape;54;p12"/>
          <p:cNvSpPr/>
          <p:nvPr/>
        </p:nvSpPr>
        <p:spPr>
          <a:xfrm>
            <a:off x="7144920" y="4964400"/>
            <a:ext cx="1359000" cy="17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0000" bIns="18000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000" b="0" strike="noStrike" spc="-1">
                <a:solidFill>
                  <a:srgbClr val="4A86E8"/>
                </a:solidFill>
                <a:latin typeface="Arial"/>
                <a:ea typeface="Arial"/>
              </a:rPr>
              <a:t>Shubham Jain</a:t>
            </a:r>
            <a:endParaRPr lang="en-IN" sz="1000" b="0" strike="noStrike" spc="-1">
              <a:latin typeface="Aria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59;p13"/>
          <p:cNvSpPr/>
          <p:nvPr/>
        </p:nvSpPr>
        <p:spPr>
          <a:xfrm>
            <a:off x="2145960" y="3814560"/>
            <a:ext cx="4667400" cy="56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2000" b="0" strike="noStrike" spc="-1">
                <a:solidFill>
                  <a:srgbClr val="000000"/>
                </a:solidFill>
                <a:latin typeface="Arial"/>
                <a:ea typeface="Arial"/>
              </a:rPr>
              <a:t>Scan Chain Demo </a:t>
            </a:r>
            <a:endParaRPr lang="en-IN" sz="2000" b="0" strike="noStrike" spc="-1">
              <a:latin typeface="Arial"/>
            </a:endParaRPr>
          </a:p>
        </p:txBody>
      </p:sp>
      <p:sp>
        <p:nvSpPr>
          <p:cNvPr id="84" name="Google Shape;60;p13"/>
          <p:cNvSpPr/>
          <p:nvPr/>
        </p:nvSpPr>
        <p:spPr>
          <a:xfrm>
            <a:off x="2651760" y="1877400"/>
            <a:ext cx="3529080" cy="89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1" strike="noStrike" spc="-1">
                <a:solidFill>
                  <a:srgbClr val="000000"/>
                </a:solidFill>
                <a:latin typeface="Arial"/>
                <a:ea typeface="Arial"/>
              </a:rPr>
              <a:t>Department of Electrical Engineering</a:t>
            </a:r>
            <a:endParaRPr lang="en-IN" sz="12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200" b="1" strike="noStrike" spc="-1">
                <a:solidFill>
                  <a:srgbClr val="000000"/>
                </a:solidFill>
                <a:latin typeface="Arial"/>
                <a:ea typeface="Arial"/>
              </a:rPr>
              <a:t>Indian Institute of Technology, Bombay</a:t>
            </a:r>
            <a:endParaRPr lang="en-IN" sz="1200" b="0" strike="noStrike" spc="-1">
              <a:latin typeface="Arial"/>
            </a:endParaRPr>
          </a:p>
        </p:txBody>
      </p:sp>
      <p:sp>
        <p:nvSpPr>
          <p:cNvPr id="85" name="Google Shape;62;p13"/>
          <p:cNvSpPr/>
          <p:nvPr/>
        </p:nvSpPr>
        <p:spPr>
          <a:xfrm>
            <a:off x="3215160" y="2769120"/>
            <a:ext cx="2396160" cy="82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EE214 – 2024</a:t>
            </a:r>
            <a:endParaRPr lang="en-IN" sz="14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1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Digital Circuits Lab</a:t>
            </a:r>
            <a:endParaRPr lang="en-IN" sz="1400" b="0" strike="noStrike" spc="-1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endParaRPr lang="en-IN" sz="1400" b="0" strike="noStrike" spc="-1">
              <a:latin typeface="Arial"/>
            </a:endParaRPr>
          </a:p>
        </p:txBody>
      </p:sp>
      <p:sp>
        <p:nvSpPr>
          <p:cNvPr id="86" name="TextBox 1"/>
          <p:cNvSpPr/>
          <p:nvPr/>
        </p:nvSpPr>
        <p:spPr>
          <a:xfrm>
            <a:off x="3707894" y="4365950"/>
            <a:ext cx="2742840" cy="30777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1" i="1" strike="noStrike" spc="-1" dirty="0">
                <a:solidFill>
                  <a:srgbClr val="000000"/>
                </a:solidFill>
                <a:latin typeface="Arial"/>
                <a:ea typeface="Arial"/>
              </a:rPr>
              <a:t>Anubhav Bhura</a:t>
            </a:r>
            <a:endParaRPr lang="en-IN" sz="1400" b="0" strike="noStrike" spc="-1" dirty="0">
              <a:latin typeface="Arial"/>
            </a:endParaRPr>
          </a:p>
        </p:txBody>
      </p:sp>
      <p:pic>
        <p:nvPicPr>
          <p:cNvPr id="87" name="Picture 3" descr="Logo, company name&#10;&#10;Description automatically generated"/>
          <p:cNvPicPr/>
          <p:nvPr/>
        </p:nvPicPr>
        <p:blipFill>
          <a:blip r:embed="rId2"/>
          <a:stretch/>
        </p:blipFill>
        <p:spPr>
          <a:xfrm>
            <a:off x="2102760" y="109080"/>
            <a:ext cx="4755240" cy="20498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68;p14"/>
          <p:cNvSpPr/>
          <p:nvPr/>
        </p:nvSpPr>
        <p:spPr>
          <a:xfrm>
            <a:off x="363600" y="4874400"/>
            <a:ext cx="204480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2880" bIns="18288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Wadhwani Electronics Lab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89" name="Google Shape;69;p14"/>
          <p:cNvSpPr/>
          <p:nvPr/>
        </p:nvSpPr>
        <p:spPr>
          <a:xfrm>
            <a:off x="0" y="0"/>
            <a:ext cx="7909560" cy="38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200" b="0" strike="noStrike" spc="-1">
                <a:solidFill>
                  <a:srgbClr val="FFFFFF"/>
                </a:solidFill>
                <a:latin typeface="Source Sans Pro"/>
                <a:ea typeface="Arial"/>
              </a:rPr>
              <a:t>Objectives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90" name="Google Shape;70;p14"/>
          <p:cNvSpPr/>
          <p:nvPr/>
        </p:nvSpPr>
        <p:spPr>
          <a:xfrm>
            <a:off x="7104240" y="3409920"/>
            <a:ext cx="1903680" cy="3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91" name="Google Shape;71;p14"/>
          <p:cNvSpPr/>
          <p:nvPr/>
        </p:nvSpPr>
        <p:spPr>
          <a:xfrm>
            <a:off x="3919320" y="4924800"/>
            <a:ext cx="1527480" cy="2185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92" name="Google Shape;72;p14"/>
          <p:cNvSpPr/>
          <p:nvPr/>
        </p:nvSpPr>
        <p:spPr>
          <a:xfrm>
            <a:off x="4934160" y="4847760"/>
            <a:ext cx="299952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8240" bIns="13824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Dept. of EE, IIT Bombay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93" name="Google Shape;73;p14"/>
          <p:cNvSpPr/>
          <p:nvPr/>
        </p:nvSpPr>
        <p:spPr>
          <a:xfrm>
            <a:off x="8649720" y="4924800"/>
            <a:ext cx="90360" cy="1807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94" name="Google Shape;74;p14"/>
          <p:cNvSpPr/>
          <p:nvPr/>
        </p:nvSpPr>
        <p:spPr>
          <a:xfrm>
            <a:off x="590040" y="1561320"/>
            <a:ext cx="7395120" cy="15696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● Need for Scan Chain </a:t>
            </a:r>
            <a:endParaRPr lang="en-IN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● Basic understanding of JTAG and Scan Chain </a:t>
            </a:r>
            <a:endParaRPr lang="en-IN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● What is BSCANE2 JTAG IP </a:t>
            </a:r>
            <a:endParaRPr lang="en-IN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● How Scan Chain works </a:t>
            </a:r>
            <a:endParaRPr lang="en-IN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● How to Run Scan Chain using BSCANE2 JTAG </a:t>
            </a:r>
            <a:endParaRPr lang="en-IN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79;p15"/>
          <p:cNvSpPr/>
          <p:nvPr/>
        </p:nvSpPr>
        <p:spPr>
          <a:xfrm>
            <a:off x="363600" y="4874400"/>
            <a:ext cx="204480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2880" bIns="18288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Wadhwani Electronics Lab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96" name="Google Shape;80;p15"/>
          <p:cNvSpPr/>
          <p:nvPr/>
        </p:nvSpPr>
        <p:spPr>
          <a:xfrm>
            <a:off x="0" y="0"/>
            <a:ext cx="7909560" cy="38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97" name="Google Shape;81;p15"/>
          <p:cNvSpPr/>
          <p:nvPr/>
        </p:nvSpPr>
        <p:spPr>
          <a:xfrm>
            <a:off x="7104240" y="3409920"/>
            <a:ext cx="1903680" cy="3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98" name="Google Shape;82;p15"/>
          <p:cNvSpPr/>
          <p:nvPr/>
        </p:nvSpPr>
        <p:spPr>
          <a:xfrm>
            <a:off x="3919320" y="4924800"/>
            <a:ext cx="1527480" cy="2185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99" name="Google Shape;83;p15"/>
          <p:cNvSpPr/>
          <p:nvPr/>
        </p:nvSpPr>
        <p:spPr>
          <a:xfrm>
            <a:off x="4934160" y="4847760"/>
            <a:ext cx="299952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8240" bIns="13824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Dept. of EE, IIT Bombay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00" name="Google Shape;84;p15"/>
          <p:cNvSpPr/>
          <p:nvPr/>
        </p:nvSpPr>
        <p:spPr>
          <a:xfrm>
            <a:off x="8649720" y="4924800"/>
            <a:ext cx="90360" cy="1807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01" name="Google Shape;85;p15"/>
          <p:cNvSpPr/>
          <p:nvPr/>
        </p:nvSpPr>
        <p:spPr>
          <a:xfrm>
            <a:off x="3240" y="-65160"/>
            <a:ext cx="7980120" cy="51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2200" b="1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 </a:t>
            </a:r>
            <a:r>
              <a:rPr lang="en-GB" sz="2200" b="1" strike="noStrike" spc="-1">
                <a:solidFill>
                  <a:srgbClr val="FFFFFF"/>
                </a:solidFill>
                <a:latin typeface="Source Sans Pro"/>
                <a:ea typeface="Source Sans Pro"/>
              </a:rPr>
              <a:t>Where did we left off?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02" name="Google Shape;87;p15"/>
          <p:cNvSpPr/>
          <p:nvPr/>
        </p:nvSpPr>
        <p:spPr>
          <a:xfrm>
            <a:off x="520920" y="801360"/>
            <a:ext cx="783432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buNone/>
            </a:pPr>
            <a:endParaRPr lang="en-IN" sz="1800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buNone/>
            </a:pPr>
            <a:r>
              <a:rPr lang="en-GB" sz="1800" b="0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Can We use this (Pin Planning ) method to verify any design?</a:t>
            </a:r>
            <a:endParaRPr lang="en-IN" sz="1800" b="0" strike="noStrike" spc="-1">
              <a:latin typeface="Arial"/>
            </a:endParaRPr>
          </a:p>
          <a:p>
            <a:pPr marL="7430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Possible Issues?</a:t>
            </a:r>
            <a:endParaRPr lang="en-IN" sz="1800" b="0" strike="noStrike" spc="-1">
              <a:latin typeface="Arial"/>
            </a:endParaRPr>
          </a:p>
        </p:txBody>
      </p:sp>
      <p:sp>
        <p:nvSpPr>
          <p:cNvPr id="103" name="TextBox 1"/>
          <p:cNvSpPr/>
          <p:nvPr/>
        </p:nvSpPr>
        <p:spPr>
          <a:xfrm>
            <a:off x="900000" y="2053800"/>
            <a:ext cx="6678360" cy="51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1. Number of Switches and LEDs are Limited</a:t>
            </a:r>
            <a:endParaRPr lang="en-IN" sz="14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  <a:ea typeface="Arial"/>
              </a:rPr>
              <a:t>2. Amount of time to verify all input combinations</a:t>
            </a:r>
            <a:endParaRPr lang="en-IN" sz="14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79;p15"/>
          <p:cNvSpPr/>
          <p:nvPr/>
        </p:nvSpPr>
        <p:spPr>
          <a:xfrm>
            <a:off x="363600" y="4874400"/>
            <a:ext cx="204480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2880" bIns="18288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Wadhwani Electronics Lab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05" name="Google Shape;80;p15"/>
          <p:cNvSpPr/>
          <p:nvPr/>
        </p:nvSpPr>
        <p:spPr>
          <a:xfrm>
            <a:off x="0" y="0"/>
            <a:ext cx="7909560" cy="38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06" name="Google Shape;81;p15"/>
          <p:cNvSpPr/>
          <p:nvPr/>
        </p:nvSpPr>
        <p:spPr>
          <a:xfrm>
            <a:off x="7104240" y="3409920"/>
            <a:ext cx="1903680" cy="3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07" name="Google Shape;82;p15"/>
          <p:cNvSpPr/>
          <p:nvPr/>
        </p:nvSpPr>
        <p:spPr>
          <a:xfrm>
            <a:off x="3919320" y="4924800"/>
            <a:ext cx="1527480" cy="2185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08" name="Google Shape;83;p15"/>
          <p:cNvSpPr/>
          <p:nvPr/>
        </p:nvSpPr>
        <p:spPr>
          <a:xfrm>
            <a:off x="4934160" y="4847760"/>
            <a:ext cx="299952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8240" bIns="13824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Dept. of EE, IIT Bombay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09" name="Google Shape;84;p15"/>
          <p:cNvSpPr/>
          <p:nvPr/>
        </p:nvSpPr>
        <p:spPr>
          <a:xfrm>
            <a:off x="8649720" y="4924800"/>
            <a:ext cx="90360" cy="1807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10" name="Google Shape;85;p15"/>
          <p:cNvSpPr/>
          <p:nvPr/>
        </p:nvSpPr>
        <p:spPr>
          <a:xfrm>
            <a:off x="3240" y="-65160"/>
            <a:ext cx="7980120" cy="51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2200" b="1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 </a:t>
            </a:r>
            <a:r>
              <a:rPr lang="en-GB" sz="2200" b="1" strike="noStrike" spc="-1">
                <a:solidFill>
                  <a:srgbClr val="FFFFFF"/>
                </a:solidFill>
                <a:latin typeface="Source Sans Pro"/>
                <a:ea typeface="Source Sans Pro"/>
              </a:rPr>
              <a:t>Why Test on Hardware?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11" name="Google Shape;87;p15"/>
          <p:cNvSpPr/>
          <p:nvPr/>
        </p:nvSpPr>
        <p:spPr>
          <a:xfrm>
            <a:off x="472680" y="1453320"/>
            <a:ext cx="783432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marL="42552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Already written a Testbench for verification</a:t>
            </a:r>
            <a:endParaRPr lang="en-IN" sz="1800" b="0" strike="noStrike" spc="-1">
              <a:latin typeface="Arial"/>
            </a:endParaRPr>
          </a:p>
          <a:p>
            <a:pPr marL="42552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Verified Design through RTL Simulation</a:t>
            </a:r>
            <a:endParaRPr lang="en-IN" sz="1800" b="0" strike="noStrike" spc="-1">
              <a:latin typeface="Arial"/>
            </a:endParaRPr>
          </a:p>
          <a:p>
            <a:pPr marL="42552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Hardware may have some timing Differences/ small faults.  </a:t>
            </a:r>
            <a:endParaRPr lang="en-IN" sz="1800" b="0" strike="noStrike" spc="-1">
              <a:latin typeface="Arial"/>
            </a:endParaRPr>
          </a:p>
          <a:p>
            <a:pPr marL="42552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Design may not be synthesizable(works only in simulation )</a:t>
            </a:r>
            <a:endParaRPr lang="en-IN" sz="1800" b="0" strike="noStrike" spc="-1">
              <a:latin typeface="Arial"/>
            </a:endParaRPr>
          </a:p>
          <a:p>
            <a:pPr marL="42552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All simulated design may not work perfectly on board</a:t>
            </a:r>
            <a:endParaRPr lang="en-IN" sz="1800" b="0" strike="noStrike" spc="-1">
              <a:latin typeface="Arial"/>
            </a:endParaRPr>
          </a:p>
          <a:p>
            <a:pPr marL="42552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Before releasing your design, need to confirm if it works on actual hardware or not.</a:t>
            </a:r>
            <a:endParaRPr lang="en-IN" sz="1800" b="0" strike="noStrike" spc="-1">
              <a:latin typeface="Arial"/>
            </a:endParaRPr>
          </a:p>
          <a:p>
            <a:pPr marL="457200">
              <a:lnSpc>
                <a:spcPct val="100000"/>
              </a:lnSpc>
              <a:buNone/>
            </a:pPr>
            <a:endParaRPr lang="en-IN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93;p16"/>
          <p:cNvSpPr/>
          <p:nvPr/>
        </p:nvSpPr>
        <p:spPr>
          <a:xfrm>
            <a:off x="363600" y="4874400"/>
            <a:ext cx="204480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2880" bIns="18288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Wadhwani Electronics Lab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13" name="Google Shape;94;p16"/>
          <p:cNvSpPr/>
          <p:nvPr/>
        </p:nvSpPr>
        <p:spPr>
          <a:xfrm>
            <a:off x="0" y="0"/>
            <a:ext cx="7909560" cy="38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14" name="Google Shape;95;p16"/>
          <p:cNvSpPr/>
          <p:nvPr/>
        </p:nvSpPr>
        <p:spPr>
          <a:xfrm>
            <a:off x="7104240" y="3409920"/>
            <a:ext cx="1903680" cy="3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15" name="Google Shape;96;p16"/>
          <p:cNvSpPr/>
          <p:nvPr/>
        </p:nvSpPr>
        <p:spPr>
          <a:xfrm>
            <a:off x="3919320" y="4924800"/>
            <a:ext cx="1527480" cy="2185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16" name="Google Shape;97;p16"/>
          <p:cNvSpPr/>
          <p:nvPr/>
        </p:nvSpPr>
        <p:spPr>
          <a:xfrm>
            <a:off x="4934160" y="4847760"/>
            <a:ext cx="299952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8240" bIns="13824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Dept. of EE, IIT Bombay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17" name="Google Shape;98;p16"/>
          <p:cNvSpPr/>
          <p:nvPr/>
        </p:nvSpPr>
        <p:spPr>
          <a:xfrm>
            <a:off x="8649720" y="4924800"/>
            <a:ext cx="90360" cy="1807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18" name="Google Shape;99;p16"/>
          <p:cNvSpPr/>
          <p:nvPr/>
        </p:nvSpPr>
        <p:spPr>
          <a:xfrm>
            <a:off x="257040" y="-28800"/>
            <a:ext cx="7395120" cy="51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2200" b="1" strike="noStrike" spc="-1">
                <a:solidFill>
                  <a:srgbClr val="FFFFFF"/>
                </a:solidFill>
                <a:latin typeface="Source Sans Pro"/>
                <a:ea typeface="Source Sans Pro"/>
              </a:rPr>
              <a:t>Recap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19" name="Google Shape;100;p16"/>
          <p:cNvSpPr/>
          <p:nvPr/>
        </p:nvSpPr>
        <p:spPr>
          <a:xfrm>
            <a:off x="201960" y="1459080"/>
            <a:ext cx="8390880" cy="17235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Till now - </a:t>
            </a:r>
            <a:endParaRPr lang="en-IN" sz="1800" b="0" strike="noStrike" spc="-1" dirty="0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Written VHDL code for Full Adder, Multiplexer, Encoder etc.</a:t>
            </a:r>
            <a:endParaRPr lang="en-IN" sz="1800" b="0" strike="noStrike" spc="-1" dirty="0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Verified through a Testbench using a TRACEFILE (RTL Simulation)</a:t>
            </a:r>
            <a:endParaRPr lang="en-IN" sz="1800" b="0" strike="noStrike" spc="-1" dirty="0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Verified on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Source Sans Pro"/>
                <a:ea typeface="Source Sans Pro"/>
              </a:rPr>
              <a:t>Artix</a:t>
            </a: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 - 7 board using Switches and LEDs</a:t>
            </a:r>
            <a:endParaRPr lang="en-IN" spc="-1" dirty="0"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Number of input- output pins needed were low.</a:t>
            </a:r>
            <a:r>
              <a:rPr lang="en-GB" sz="2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 </a:t>
            </a:r>
            <a:endParaRPr lang="en-IN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06;p17"/>
          <p:cNvSpPr/>
          <p:nvPr/>
        </p:nvSpPr>
        <p:spPr>
          <a:xfrm>
            <a:off x="363600" y="4874400"/>
            <a:ext cx="204480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2880" bIns="18288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Wadhwani Electronics Lab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21" name="Google Shape;107;p17"/>
          <p:cNvSpPr/>
          <p:nvPr/>
        </p:nvSpPr>
        <p:spPr>
          <a:xfrm>
            <a:off x="0" y="0"/>
            <a:ext cx="7909560" cy="38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FFFFFF"/>
                </a:solidFill>
                <a:latin typeface="Source Sans Pro"/>
                <a:ea typeface="Arial"/>
              </a:rPr>
              <a:t>Why Scan Chain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22" name="Google Shape;108;p17"/>
          <p:cNvSpPr/>
          <p:nvPr/>
        </p:nvSpPr>
        <p:spPr>
          <a:xfrm>
            <a:off x="7104240" y="3409920"/>
            <a:ext cx="1903680" cy="3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23" name="Google Shape;109;p17"/>
          <p:cNvSpPr/>
          <p:nvPr/>
        </p:nvSpPr>
        <p:spPr>
          <a:xfrm>
            <a:off x="3919320" y="4924800"/>
            <a:ext cx="1527480" cy="2185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24" name="Google Shape;110;p17"/>
          <p:cNvSpPr/>
          <p:nvPr/>
        </p:nvSpPr>
        <p:spPr>
          <a:xfrm>
            <a:off x="4934160" y="4847760"/>
            <a:ext cx="299952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8240" bIns="13824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Dept. of EE, IIT Bombay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25" name="Google Shape;111;p17"/>
          <p:cNvSpPr/>
          <p:nvPr/>
        </p:nvSpPr>
        <p:spPr>
          <a:xfrm>
            <a:off x="8649720" y="4924800"/>
            <a:ext cx="90360" cy="1807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26" name="Google Shape;112;p17"/>
          <p:cNvSpPr/>
          <p:nvPr/>
        </p:nvSpPr>
        <p:spPr>
          <a:xfrm>
            <a:off x="331920" y="624240"/>
            <a:ext cx="7395120" cy="44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27" name="Google Shape;114;p17"/>
          <p:cNvSpPr/>
          <p:nvPr/>
        </p:nvSpPr>
        <p:spPr>
          <a:xfrm>
            <a:off x="331560" y="1119240"/>
            <a:ext cx="8113680" cy="24006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Source Sans Pro"/>
              <a:buChar char="●"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4-bit Adder-Subtractor</a:t>
            </a:r>
            <a:endParaRPr lang="en-IN" sz="1800" b="0" strike="noStrike" spc="-1" dirty="0"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Source Sans Pro"/>
              <a:buChar char="●"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Number of input/output Pins = 8</a:t>
            </a:r>
            <a:r>
              <a:rPr lang="en-GB" spc="-1" dirty="0">
                <a:solidFill>
                  <a:srgbClr val="000000"/>
                </a:solidFill>
                <a:latin typeface="Source Sans Pro"/>
                <a:ea typeface="Source Sans Pro"/>
              </a:rPr>
              <a:t>-10</a:t>
            </a:r>
            <a:endParaRPr lang="en-IN" sz="1800" b="0" strike="noStrike" spc="-1" dirty="0"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Source Sans Pro"/>
              <a:buChar char="●"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Available switches/LEDs on Xen-10 Board = 8/8</a:t>
            </a:r>
            <a:endParaRPr lang="en-IN" sz="1800" b="0" strike="noStrike" spc="-1" dirty="0"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Source Sans Pro"/>
              <a:buChar char="●"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How to give inputs and Check output?</a:t>
            </a:r>
            <a:endParaRPr lang="en-IN" sz="1800" b="0" strike="noStrike" spc="-1" dirty="0"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Source Sans Pro"/>
              <a:buChar char="●"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Time required to check for all input combinations? - 256 combinations for adder.</a:t>
            </a:r>
            <a:endParaRPr lang="en-IN" sz="1800" b="0" strike="noStrike" spc="-1" dirty="0"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Source Sans Pro"/>
              <a:buChar char="●"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Solution – Scan Chain</a:t>
            </a:r>
            <a:endParaRPr lang="en-IN" sz="1800" b="0" strike="noStrike" spc="-1" dirty="0"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Source Sans Pro"/>
              <a:buChar char="●"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For a design with any number of input and output pins</a:t>
            </a:r>
            <a:endParaRPr lang="en-IN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06;p17"/>
          <p:cNvSpPr/>
          <p:nvPr/>
        </p:nvSpPr>
        <p:spPr>
          <a:xfrm>
            <a:off x="363600" y="4874400"/>
            <a:ext cx="204480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2880" bIns="18288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Wadhwani Electronics Lab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29" name="Google Shape;107;p17"/>
          <p:cNvSpPr/>
          <p:nvPr/>
        </p:nvSpPr>
        <p:spPr>
          <a:xfrm>
            <a:off x="0" y="0"/>
            <a:ext cx="7909560" cy="38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FFFFFF"/>
                </a:solidFill>
                <a:latin typeface="Source Sans Pro"/>
                <a:ea typeface="Arial"/>
              </a:rPr>
              <a:t>Lets develop a testing method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30" name="Google Shape;108;p17"/>
          <p:cNvSpPr/>
          <p:nvPr/>
        </p:nvSpPr>
        <p:spPr>
          <a:xfrm>
            <a:off x="7104240" y="3409920"/>
            <a:ext cx="1903680" cy="3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31" name="Google Shape;109;p17"/>
          <p:cNvSpPr/>
          <p:nvPr/>
        </p:nvSpPr>
        <p:spPr>
          <a:xfrm>
            <a:off x="3919320" y="4924800"/>
            <a:ext cx="1527480" cy="2185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32" name="Google Shape;110;p17"/>
          <p:cNvSpPr/>
          <p:nvPr/>
        </p:nvSpPr>
        <p:spPr>
          <a:xfrm>
            <a:off x="4934160" y="4847760"/>
            <a:ext cx="299952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8240" bIns="13824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Dept. of EE, IIT Bombay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33" name="Google Shape;111;p17"/>
          <p:cNvSpPr/>
          <p:nvPr/>
        </p:nvSpPr>
        <p:spPr>
          <a:xfrm>
            <a:off x="8649720" y="4924800"/>
            <a:ext cx="90360" cy="1807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34" name="Google Shape;114;p17"/>
          <p:cNvSpPr/>
          <p:nvPr/>
        </p:nvSpPr>
        <p:spPr>
          <a:xfrm>
            <a:off x="435960" y="1506240"/>
            <a:ext cx="811368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marL="42552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Can we use existing Tracefile?</a:t>
            </a:r>
            <a:endParaRPr lang="en-IN" sz="1800" b="0" strike="noStrike" spc="-1">
              <a:latin typeface="Arial"/>
            </a:endParaRPr>
          </a:p>
          <a:p>
            <a:pPr marL="42552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Possible Solution :</a:t>
            </a:r>
            <a:endParaRPr lang="en-IN" sz="1800" b="0" strike="noStrike" spc="-1">
              <a:latin typeface="Arial"/>
            </a:endParaRPr>
          </a:p>
          <a:p>
            <a:pPr marL="42552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Send inputs through USB to FPGA</a:t>
            </a:r>
            <a:endParaRPr lang="en-IN" sz="1800" b="0" strike="noStrike" spc="-1">
              <a:latin typeface="Arial"/>
            </a:endParaRPr>
          </a:p>
          <a:p>
            <a:pPr marL="42552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Allow FPGA to react to the inputs</a:t>
            </a:r>
            <a:endParaRPr lang="en-IN" sz="1800" b="0" strike="noStrike" spc="-1">
              <a:latin typeface="Arial"/>
            </a:endParaRPr>
          </a:p>
          <a:p>
            <a:pPr marL="42552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Read outputs generated by FPGA through USB</a:t>
            </a:r>
            <a:endParaRPr lang="en-IN" sz="1800" b="0" strike="noStrike" spc="-1">
              <a:latin typeface="Arial"/>
            </a:endParaRPr>
          </a:p>
          <a:p>
            <a:pPr marL="42552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Compare generated output with golden output</a:t>
            </a:r>
            <a:endParaRPr lang="en-IN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06;p17"/>
          <p:cNvSpPr/>
          <p:nvPr/>
        </p:nvSpPr>
        <p:spPr>
          <a:xfrm>
            <a:off x="363600" y="4874400"/>
            <a:ext cx="204480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2880" bIns="18288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Wadhwani Electronics Lab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36" name="Google Shape;107;p17"/>
          <p:cNvSpPr/>
          <p:nvPr/>
        </p:nvSpPr>
        <p:spPr>
          <a:xfrm>
            <a:off x="0" y="0"/>
            <a:ext cx="7909560" cy="38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FFFFFF"/>
                </a:solidFill>
                <a:latin typeface="Source Sans Pro"/>
                <a:ea typeface="Arial"/>
              </a:rPr>
              <a:t>Basics of Testing and Verification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37" name="Google Shape;108;p17"/>
          <p:cNvSpPr/>
          <p:nvPr/>
        </p:nvSpPr>
        <p:spPr>
          <a:xfrm>
            <a:off x="7104240" y="3409920"/>
            <a:ext cx="1903680" cy="3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38" name="Google Shape;109;p17"/>
          <p:cNvSpPr/>
          <p:nvPr/>
        </p:nvSpPr>
        <p:spPr>
          <a:xfrm>
            <a:off x="3919320" y="4924800"/>
            <a:ext cx="1527480" cy="2185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39" name="Google Shape;110;p17"/>
          <p:cNvSpPr/>
          <p:nvPr/>
        </p:nvSpPr>
        <p:spPr>
          <a:xfrm>
            <a:off x="4934160" y="4847760"/>
            <a:ext cx="299952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8240" bIns="13824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Dept. of EE, IIT Bombay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40" name="Google Shape;111;p17"/>
          <p:cNvSpPr/>
          <p:nvPr/>
        </p:nvSpPr>
        <p:spPr>
          <a:xfrm>
            <a:off x="8649720" y="4924800"/>
            <a:ext cx="90360" cy="1807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41" name="Google Shape;112;p17"/>
          <p:cNvSpPr/>
          <p:nvPr/>
        </p:nvSpPr>
        <p:spPr>
          <a:xfrm>
            <a:off x="331920" y="624240"/>
            <a:ext cx="7395120" cy="44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graphicFrame>
        <p:nvGraphicFramePr>
          <p:cNvPr id="142" name="Table 2"/>
          <p:cNvGraphicFramePr/>
          <p:nvPr/>
        </p:nvGraphicFramePr>
        <p:xfrm>
          <a:off x="455760" y="723240"/>
          <a:ext cx="8068320" cy="3720960"/>
        </p:xfrm>
        <a:graphic>
          <a:graphicData uri="http://schemas.openxmlformats.org/drawingml/2006/table">
            <a:tbl>
              <a:tblPr/>
              <a:tblGrid>
                <a:gridCol w="4034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4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0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40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Verification</a:t>
                      </a:r>
                      <a:endParaRPr lang="en-IN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400" b="1" strike="noStrike" spc="-1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Testing</a:t>
                      </a:r>
                      <a:endParaRPr lang="en-IN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0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Guarantees Correctness of Design</a:t>
                      </a:r>
                      <a:endParaRPr lang="en-IN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E2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Guarantees Correctness of Manufactured IC/Board/System</a:t>
                      </a:r>
                      <a:endParaRPr lang="en-IN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3816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E2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Done only once before actual manufacturing</a:t>
                      </a:r>
                      <a:endParaRPr lang="en-IN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1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Done after device is manufactured (on every physical device)</a:t>
                      </a:r>
                      <a:endParaRPr lang="en-IN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F1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06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Using Simulation</a:t>
                      </a:r>
                      <a:endParaRPr lang="en-IN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E2C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1400" b="0" strike="noStrike" spc="-1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Using Testing methods such as Scan Chain</a:t>
                      </a:r>
                      <a:endParaRPr lang="en-IN" sz="1400" b="0" strike="noStrike" spc="-1">
                        <a:latin typeface="Arial"/>
                      </a:endParaRPr>
                    </a:p>
                  </a:txBody>
                  <a:tcPr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FFE2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06;p17"/>
          <p:cNvSpPr/>
          <p:nvPr/>
        </p:nvSpPr>
        <p:spPr>
          <a:xfrm>
            <a:off x="363600" y="4874400"/>
            <a:ext cx="204480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2880" bIns="18288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Wadhwani Electronics Lab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44" name="Google Shape;107;p17"/>
          <p:cNvSpPr/>
          <p:nvPr/>
        </p:nvSpPr>
        <p:spPr>
          <a:xfrm>
            <a:off x="0" y="0"/>
            <a:ext cx="7909560" cy="38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45" name="Google Shape;108;p17"/>
          <p:cNvSpPr/>
          <p:nvPr/>
        </p:nvSpPr>
        <p:spPr>
          <a:xfrm>
            <a:off x="7104240" y="3409920"/>
            <a:ext cx="1903680" cy="3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46" name="Google Shape;109;p17"/>
          <p:cNvSpPr/>
          <p:nvPr/>
        </p:nvSpPr>
        <p:spPr>
          <a:xfrm>
            <a:off x="3919320" y="4924800"/>
            <a:ext cx="1527480" cy="2185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47" name="Google Shape;110;p17"/>
          <p:cNvSpPr/>
          <p:nvPr/>
        </p:nvSpPr>
        <p:spPr>
          <a:xfrm>
            <a:off x="4934160" y="4847760"/>
            <a:ext cx="299952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8240" bIns="13824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Dept. of EE, IIT Bombay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48" name="Google Shape;111;p17"/>
          <p:cNvSpPr/>
          <p:nvPr/>
        </p:nvSpPr>
        <p:spPr>
          <a:xfrm>
            <a:off x="8649720" y="4924800"/>
            <a:ext cx="90360" cy="1807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50" name="TextBox 2"/>
          <p:cNvSpPr/>
          <p:nvPr/>
        </p:nvSpPr>
        <p:spPr>
          <a:xfrm>
            <a:off x="538200" y="1778760"/>
            <a:ext cx="7828560" cy="121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 marL="139680" algn="ctr">
              <a:lnSpc>
                <a:spcPct val="100000"/>
              </a:lnSpc>
              <a:buNone/>
            </a:pPr>
            <a:r>
              <a:rPr lang="en-GB" sz="3000" b="1" strike="noStrike" spc="-1">
                <a:solidFill>
                  <a:srgbClr val="000000"/>
                </a:solidFill>
                <a:latin typeface="Arial"/>
                <a:ea typeface="Arial"/>
              </a:rPr>
              <a:t>NEED ELECTRICAL ACCESS TO EACH PIN OF ICs ON PCB</a:t>
            </a:r>
            <a:endParaRPr lang="en-IN" sz="3000" b="0" strike="noStrike" spc="-1">
              <a:latin typeface="Arial"/>
            </a:endParaRPr>
          </a:p>
          <a:p>
            <a:pPr marL="139680">
              <a:lnSpc>
                <a:spcPct val="100000"/>
              </a:lnSpc>
              <a:buNone/>
            </a:pPr>
            <a:endParaRPr lang="en-IN" sz="1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06;p17"/>
          <p:cNvSpPr/>
          <p:nvPr/>
        </p:nvSpPr>
        <p:spPr>
          <a:xfrm>
            <a:off x="363600" y="4874400"/>
            <a:ext cx="204480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2880" bIns="18288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Wadhwani Electronics Lab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52" name="Google Shape;107;p17"/>
          <p:cNvSpPr/>
          <p:nvPr/>
        </p:nvSpPr>
        <p:spPr>
          <a:xfrm>
            <a:off x="0" y="0"/>
            <a:ext cx="7909560" cy="38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FFFFFF"/>
                </a:solidFill>
                <a:latin typeface="Source Sans Pro"/>
                <a:ea typeface="Arial"/>
              </a:rPr>
              <a:t>Methods of Testing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53" name="Google Shape;108;p17"/>
          <p:cNvSpPr/>
          <p:nvPr/>
        </p:nvSpPr>
        <p:spPr>
          <a:xfrm>
            <a:off x="7104240" y="3409920"/>
            <a:ext cx="1903680" cy="3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54" name="Google Shape;109;p17"/>
          <p:cNvSpPr/>
          <p:nvPr/>
        </p:nvSpPr>
        <p:spPr>
          <a:xfrm>
            <a:off x="3919320" y="4924800"/>
            <a:ext cx="1527480" cy="2185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55" name="Google Shape;110;p17"/>
          <p:cNvSpPr/>
          <p:nvPr/>
        </p:nvSpPr>
        <p:spPr>
          <a:xfrm>
            <a:off x="4934160" y="4847760"/>
            <a:ext cx="299952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8240" bIns="13824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Dept. of EE, IIT Bombay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56" name="Google Shape;111;p17"/>
          <p:cNvSpPr/>
          <p:nvPr/>
        </p:nvSpPr>
        <p:spPr>
          <a:xfrm>
            <a:off x="8649720" y="4924800"/>
            <a:ext cx="90360" cy="1807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57" name="Google Shape;112;p17"/>
          <p:cNvSpPr/>
          <p:nvPr/>
        </p:nvSpPr>
        <p:spPr>
          <a:xfrm>
            <a:off x="331920" y="624240"/>
            <a:ext cx="7395120" cy="44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58" name="Google Shape;114;p17"/>
          <p:cNvSpPr/>
          <p:nvPr/>
        </p:nvSpPr>
        <p:spPr>
          <a:xfrm>
            <a:off x="363600" y="539640"/>
            <a:ext cx="2999160" cy="2925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marL="42552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Using probes to excite and read data from IC</a:t>
            </a:r>
            <a:endParaRPr lang="en-IN" sz="1800" b="0" strike="noStrike" spc="-1">
              <a:latin typeface="Arial"/>
            </a:endParaRPr>
          </a:p>
          <a:p>
            <a:pPr marL="42552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Issues?</a:t>
            </a:r>
            <a:endParaRPr lang="en-IN" sz="1800" b="0" strike="noStrike" spc="-1">
              <a:latin typeface="Arial"/>
            </a:endParaRPr>
          </a:p>
          <a:p>
            <a:pPr marL="42552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-If large number of pins are to be excited and read – Need multiple CROs and Function Generators</a:t>
            </a:r>
            <a:endParaRPr lang="en-IN" sz="1800" b="0" strike="noStrike" spc="-1">
              <a:latin typeface="Arial"/>
            </a:endParaRPr>
          </a:p>
        </p:txBody>
      </p:sp>
      <p:pic>
        <p:nvPicPr>
          <p:cNvPr id="159" name="Picture 2"/>
          <p:cNvPicPr/>
          <p:nvPr/>
        </p:nvPicPr>
        <p:blipFill>
          <a:blip r:embed="rId2"/>
          <a:stretch/>
        </p:blipFill>
        <p:spPr>
          <a:xfrm>
            <a:off x="3431880" y="479160"/>
            <a:ext cx="5253120" cy="42933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22;p18"/>
          <p:cNvSpPr/>
          <p:nvPr/>
        </p:nvSpPr>
        <p:spPr>
          <a:xfrm>
            <a:off x="363600" y="4874400"/>
            <a:ext cx="204480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2880" bIns="18288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Wadhwani Electronics Lab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61" name="Google Shape;123;p18"/>
          <p:cNvSpPr/>
          <p:nvPr/>
        </p:nvSpPr>
        <p:spPr>
          <a:xfrm>
            <a:off x="0" y="0"/>
            <a:ext cx="7909560" cy="38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62" name="Google Shape;124;p18"/>
          <p:cNvSpPr/>
          <p:nvPr/>
        </p:nvSpPr>
        <p:spPr>
          <a:xfrm>
            <a:off x="7104240" y="3409920"/>
            <a:ext cx="1903680" cy="3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63" name="Google Shape;125;p18"/>
          <p:cNvSpPr/>
          <p:nvPr/>
        </p:nvSpPr>
        <p:spPr>
          <a:xfrm>
            <a:off x="3919320" y="4924800"/>
            <a:ext cx="1527480" cy="2185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64" name="Google Shape;126;p18"/>
          <p:cNvSpPr/>
          <p:nvPr/>
        </p:nvSpPr>
        <p:spPr>
          <a:xfrm>
            <a:off x="4934160" y="4847760"/>
            <a:ext cx="299952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8240" bIns="13824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Dept. of EE, IIT Bombay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65" name="Google Shape;127;p18"/>
          <p:cNvSpPr/>
          <p:nvPr/>
        </p:nvSpPr>
        <p:spPr>
          <a:xfrm>
            <a:off x="8649720" y="4924800"/>
            <a:ext cx="90360" cy="1807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66" name="Google Shape;128;p18"/>
          <p:cNvSpPr/>
          <p:nvPr/>
        </p:nvSpPr>
        <p:spPr>
          <a:xfrm>
            <a:off x="60480" y="-28800"/>
            <a:ext cx="7592040" cy="51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200" b="1" strike="noStrike" spc="-1">
                <a:solidFill>
                  <a:srgbClr val="FFFFFF"/>
                </a:solidFill>
                <a:latin typeface="Source Sans Pro"/>
                <a:ea typeface="Source Sans Pro"/>
              </a:rPr>
              <a:t>JTAG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167" name="Google Shape;129;p18"/>
          <p:cNvSpPr/>
          <p:nvPr/>
        </p:nvSpPr>
        <p:spPr>
          <a:xfrm>
            <a:off x="159480" y="1286280"/>
            <a:ext cx="830916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marL="42552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Scan Chain based testing method became very popular  </a:t>
            </a:r>
            <a:endParaRPr lang="en-IN" sz="1800" b="0" strike="noStrike" spc="-1">
              <a:latin typeface="Arial"/>
            </a:endParaRPr>
          </a:p>
          <a:p>
            <a:pPr marL="42552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  <a:ea typeface="Source Sans Pro"/>
              </a:rPr>
              <a:t>Industry standard for verifying designs and testing PCBs</a:t>
            </a:r>
            <a:endParaRPr lang="en-IN" sz="1800" b="0" strike="noStrike" spc="-1">
              <a:latin typeface="Arial"/>
            </a:endParaRPr>
          </a:p>
          <a:p>
            <a:pPr marL="42552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Subsequently, used for uploading design on FPGA/CPLD boards.</a:t>
            </a:r>
            <a:endParaRPr lang="en-IN" sz="1800" b="0" strike="noStrike" spc="-1">
              <a:latin typeface="Arial"/>
            </a:endParaRPr>
          </a:p>
          <a:p>
            <a:pPr marL="42552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0000"/>
                </a:solidFill>
                <a:latin typeface="Arial"/>
                <a:ea typeface="Source Sans Pro"/>
              </a:rPr>
              <a:t>So much that it became an IEEE standard – IEEE-1149.1</a:t>
            </a:r>
            <a:endParaRPr lang="en-IN" sz="1800" b="0" strike="noStrike" spc="-1">
              <a:latin typeface="Arial"/>
            </a:endParaRPr>
          </a:p>
          <a:p>
            <a:pPr marL="42552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Joint Test Action Group - 1990</a:t>
            </a:r>
            <a:endParaRPr lang="en-IN" sz="1800" b="0" strike="noStrike" spc="-1">
              <a:latin typeface="Arial"/>
            </a:endParaRPr>
          </a:p>
          <a:p>
            <a:pPr marL="42552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One stop Solution for Programming and testing.</a:t>
            </a:r>
            <a:endParaRPr lang="en-IN" sz="1800" b="0" strike="noStrike" spc="-1">
              <a:latin typeface="Arial"/>
            </a:endParaRPr>
          </a:p>
          <a:p>
            <a:pPr marL="42552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Every IC has Basic JTAG hardware Built in it.</a:t>
            </a:r>
            <a:endParaRPr lang="en-IN" sz="1800" b="0" strike="noStrike" spc="-1">
              <a:latin typeface="Arial"/>
            </a:endParaRPr>
          </a:p>
          <a:p>
            <a:pPr marL="42552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Different Manufacturers follow the same standard</a:t>
            </a:r>
            <a:endParaRPr lang="en-IN" sz="1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Picture 3" descr="Diagram&#10;&#10;Description automatically generated"/>
          <p:cNvPicPr/>
          <p:nvPr/>
        </p:nvPicPr>
        <p:blipFill>
          <a:blip r:embed="rId2"/>
          <a:stretch/>
        </p:blipFill>
        <p:spPr>
          <a:xfrm>
            <a:off x="978840" y="1843920"/>
            <a:ext cx="6751440" cy="3032640"/>
          </a:xfrm>
          <a:prstGeom prst="rect">
            <a:avLst/>
          </a:prstGeom>
          <a:ln w="0">
            <a:noFill/>
          </a:ln>
        </p:spPr>
      </p:pic>
      <p:sp>
        <p:nvSpPr>
          <p:cNvPr id="169" name="Google Shape;162;p21"/>
          <p:cNvSpPr/>
          <p:nvPr/>
        </p:nvSpPr>
        <p:spPr>
          <a:xfrm>
            <a:off x="363600" y="4874400"/>
            <a:ext cx="204480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2880" bIns="18288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Wadhwani Electronics Lab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70" name="Google Shape;163;p21"/>
          <p:cNvSpPr/>
          <p:nvPr/>
        </p:nvSpPr>
        <p:spPr>
          <a:xfrm>
            <a:off x="0" y="0"/>
            <a:ext cx="7909560" cy="38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72" name="Google Shape;165;p21"/>
          <p:cNvSpPr/>
          <p:nvPr/>
        </p:nvSpPr>
        <p:spPr>
          <a:xfrm>
            <a:off x="3919320" y="4924800"/>
            <a:ext cx="1527480" cy="2185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73" name="Google Shape;166;p21"/>
          <p:cNvSpPr/>
          <p:nvPr/>
        </p:nvSpPr>
        <p:spPr>
          <a:xfrm>
            <a:off x="4934160" y="4847760"/>
            <a:ext cx="299952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8240" bIns="13824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Dept. of EE, IIT Bombay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74" name="Google Shape;168;p21"/>
          <p:cNvSpPr/>
          <p:nvPr/>
        </p:nvSpPr>
        <p:spPr>
          <a:xfrm>
            <a:off x="331920" y="624240"/>
            <a:ext cx="7395120" cy="44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75" name="Google Shape;169;p21"/>
          <p:cNvSpPr/>
          <p:nvPr/>
        </p:nvSpPr>
        <p:spPr>
          <a:xfrm>
            <a:off x="43200" y="0"/>
            <a:ext cx="7342560" cy="5232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2200" b="1" strike="noStrike" spc="-1" dirty="0">
                <a:solidFill>
                  <a:srgbClr val="FFFFFF"/>
                </a:solidFill>
                <a:latin typeface="Source Sans Pro"/>
                <a:ea typeface="Source Sans Pro"/>
              </a:rPr>
              <a:t>BSCANE 2 JTAG IP</a:t>
            </a:r>
            <a:endParaRPr lang="en-IN" sz="2200" b="0" strike="noStrike" spc="-1" dirty="0">
              <a:latin typeface="Arial"/>
            </a:endParaRPr>
          </a:p>
        </p:txBody>
      </p:sp>
      <p:sp>
        <p:nvSpPr>
          <p:cNvPr id="176" name="Google Shape;170;p21"/>
          <p:cNvSpPr/>
          <p:nvPr/>
        </p:nvSpPr>
        <p:spPr>
          <a:xfrm>
            <a:off x="211680" y="1131120"/>
            <a:ext cx="7112520" cy="39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77" name="Google Shape;171;p21"/>
          <p:cNvSpPr/>
          <p:nvPr/>
        </p:nvSpPr>
        <p:spPr>
          <a:xfrm>
            <a:off x="413640" y="550800"/>
            <a:ext cx="8124120" cy="129266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marL="42552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FPGAs/CPLDs already have the basic JTAG Hardware built-in </a:t>
            </a:r>
            <a:endParaRPr lang="en-IN" sz="1800" b="0" strike="noStrike" spc="-1" dirty="0">
              <a:latin typeface="Arial"/>
            </a:endParaRPr>
          </a:p>
          <a:p>
            <a:pPr marL="42552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To Control the basic hardware, need to write some VHDL code </a:t>
            </a:r>
            <a:endParaRPr lang="en-IN" sz="1800" b="0" strike="noStrike" spc="-1" dirty="0">
              <a:latin typeface="Arial"/>
            </a:endParaRPr>
          </a:p>
          <a:p>
            <a:pPr marL="42552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Alternative – BSCANE2 Xilinx FPGA/CPLD IP Core </a:t>
            </a:r>
            <a:endParaRPr lang="en-IN" sz="1800" b="0" strike="noStrike" spc="-1" dirty="0">
              <a:latin typeface="Arial"/>
            </a:endParaRPr>
          </a:p>
          <a:p>
            <a:pPr marL="42552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Intellectual Property: source code not visible </a:t>
            </a:r>
            <a:endParaRPr lang="en-IN" sz="1800" b="0" strike="noStrike" spc="-1" dirty="0">
              <a:latin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05B5B0-F29E-7F4F-E836-F1544E6E7D5B}"/>
              </a:ext>
            </a:extLst>
          </p:cNvPr>
          <p:cNvSpPr/>
          <p:nvPr/>
        </p:nvSpPr>
        <p:spPr>
          <a:xfrm>
            <a:off x="4793501" y="2805675"/>
            <a:ext cx="1260849" cy="10507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BSCANE-2 Xilinx IP</a:t>
            </a:r>
            <a:endParaRPr lang="en-IN" sz="700" b="1" dirty="0">
              <a:solidFill>
                <a:schemeClr val="tx1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A8095F-ACA0-287B-6D15-64EC052E7598}"/>
              </a:ext>
            </a:extLst>
          </p:cNvPr>
          <p:cNvSpPr/>
          <p:nvPr/>
        </p:nvSpPr>
        <p:spPr>
          <a:xfrm>
            <a:off x="6281530" y="1993506"/>
            <a:ext cx="1289248" cy="2101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Artix-7 Board</a:t>
            </a:r>
            <a:endParaRPr lang="en-IN" sz="11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D138EF-CB4B-BEB9-9704-7F1E314283C1}"/>
              </a:ext>
            </a:extLst>
          </p:cNvPr>
          <p:cNvSpPr/>
          <p:nvPr/>
        </p:nvSpPr>
        <p:spPr>
          <a:xfrm>
            <a:off x="6551777" y="2288840"/>
            <a:ext cx="973566" cy="1551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AB2A51-7E83-EEFE-6CBD-0444D1EEA790}"/>
              </a:ext>
            </a:extLst>
          </p:cNvPr>
          <p:cNvSpPr/>
          <p:nvPr/>
        </p:nvSpPr>
        <p:spPr>
          <a:xfrm>
            <a:off x="6346840" y="2309643"/>
            <a:ext cx="1156767" cy="1343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>
                <a:solidFill>
                  <a:schemeClr val="tx1"/>
                </a:solidFill>
              </a:rPr>
              <a:t>Artix-7 FPGA Chip</a:t>
            </a:r>
            <a:endParaRPr lang="en-IN" sz="9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6;p22"/>
          <p:cNvSpPr/>
          <p:nvPr/>
        </p:nvSpPr>
        <p:spPr>
          <a:xfrm>
            <a:off x="363600" y="4874400"/>
            <a:ext cx="204480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2880" bIns="18288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Wadhwani Electronics Lab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79" name="Google Shape;177;p22"/>
          <p:cNvSpPr/>
          <p:nvPr/>
        </p:nvSpPr>
        <p:spPr>
          <a:xfrm>
            <a:off x="0" y="0"/>
            <a:ext cx="7909560" cy="38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80" name="Google Shape;178;p22"/>
          <p:cNvSpPr/>
          <p:nvPr/>
        </p:nvSpPr>
        <p:spPr>
          <a:xfrm>
            <a:off x="7104240" y="3409920"/>
            <a:ext cx="1903680" cy="3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81" name="Google Shape;179;p22"/>
          <p:cNvSpPr/>
          <p:nvPr/>
        </p:nvSpPr>
        <p:spPr>
          <a:xfrm>
            <a:off x="3919320" y="4924800"/>
            <a:ext cx="1527480" cy="2185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82" name="Google Shape;180;p22"/>
          <p:cNvSpPr/>
          <p:nvPr/>
        </p:nvSpPr>
        <p:spPr>
          <a:xfrm>
            <a:off x="4934160" y="4847760"/>
            <a:ext cx="299952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8240" bIns="13824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Dept. of EE, IIT Bombay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83" name="Google Shape;181;p22"/>
          <p:cNvSpPr/>
          <p:nvPr/>
        </p:nvSpPr>
        <p:spPr>
          <a:xfrm>
            <a:off x="8649720" y="4924800"/>
            <a:ext cx="90360" cy="1807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84" name="Google Shape;183;p22"/>
          <p:cNvSpPr/>
          <p:nvPr/>
        </p:nvSpPr>
        <p:spPr>
          <a:xfrm>
            <a:off x="577440" y="2520"/>
            <a:ext cx="5770080" cy="471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1900" b="1" strike="noStrike" spc="-1">
                <a:solidFill>
                  <a:srgbClr val="FFFFFF"/>
                </a:solidFill>
                <a:latin typeface="Source Sans Pro"/>
                <a:ea typeface="Source Sans Pro"/>
              </a:rPr>
              <a:t>Design Flow</a:t>
            </a:r>
            <a:endParaRPr lang="en-IN" sz="1900" b="0" strike="noStrike" spc="-1">
              <a:latin typeface="Arial"/>
            </a:endParaRPr>
          </a:p>
        </p:txBody>
      </p:sp>
      <p:pic>
        <p:nvPicPr>
          <p:cNvPr id="185" name="Picture 3" descr="Diagram&#10;&#10;Description automatically generated"/>
          <p:cNvPicPr/>
          <p:nvPr/>
        </p:nvPicPr>
        <p:blipFill>
          <a:blip r:embed="rId2"/>
          <a:stretch/>
        </p:blipFill>
        <p:spPr>
          <a:xfrm>
            <a:off x="882360" y="383400"/>
            <a:ext cx="7387200" cy="4497120"/>
          </a:xfrm>
          <a:prstGeom prst="rect">
            <a:avLst/>
          </a:prstGeom>
          <a:ln w="0"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18D0FD4-1539-AD3A-D9D5-7003400AE73B}"/>
              </a:ext>
            </a:extLst>
          </p:cNvPr>
          <p:cNvSpPr/>
          <p:nvPr/>
        </p:nvSpPr>
        <p:spPr>
          <a:xfrm>
            <a:off x="7002827" y="783771"/>
            <a:ext cx="1169978" cy="5395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Arial Black" panose="020B0A04020102020204" pitchFamily="34" charset="0"/>
              </a:rPr>
              <a:t>Add Toplevel.vhd (change number of input and output as needed)</a:t>
            </a:r>
            <a:endParaRPr lang="en-IN" sz="700" b="1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D68A3B-58B8-70A6-E425-B047D05A1153}"/>
              </a:ext>
            </a:extLst>
          </p:cNvPr>
          <p:cNvSpPr/>
          <p:nvPr/>
        </p:nvSpPr>
        <p:spPr>
          <a:xfrm>
            <a:off x="4934160" y="2438460"/>
            <a:ext cx="1486518" cy="471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  <a:latin typeface="Arial Black" panose="020B0A04020102020204" pitchFamily="34" charset="0"/>
              </a:rPr>
              <a:t>Generate bitstream, and using Hardware manager dump to board.</a:t>
            </a:r>
          </a:p>
          <a:p>
            <a:pPr algn="ctr"/>
            <a:r>
              <a:rPr lang="en-US" sz="600" dirty="0">
                <a:solidFill>
                  <a:schemeClr val="tx1"/>
                </a:solidFill>
                <a:latin typeface="Arial Black" panose="020B0A04020102020204" pitchFamily="34" charset="0"/>
              </a:rPr>
              <a:t>Close hardware manager </a:t>
            </a:r>
            <a:endParaRPr lang="en-IN" sz="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AF7B62-10D5-3B98-D72A-5CF43E345344}"/>
              </a:ext>
            </a:extLst>
          </p:cNvPr>
          <p:cNvSpPr/>
          <p:nvPr/>
        </p:nvSpPr>
        <p:spPr>
          <a:xfrm>
            <a:off x="4749228" y="3581400"/>
            <a:ext cx="1854772" cy="4281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  <a:latin typeface="Arial Black" panose="020B0A04020102020204" pitchFamily="34" charset="0"/>
              </a:rPr>
              <a:t>Run “scan_bscane2.exe TRACEFILE.txt output.txt” or “python scan_bscane2.py TRACEFILE.txt output.txt” </a:t>
            </a:r>
            <a:endParaRPr lang="en-IN" sz="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B6907C-991F-9829-7AE6-519DF0C91C49}"/>
              </a:ext>
            </a:extLst>
          </p:cNvPr>
          <p:cNvSpPr/>
          <p:nvPr/>
        </p:nvSpPr>
        <p:spPr>
          <a:xfrm>
            <a:off x="4806378" y="3099636"/>
            <a:ext cx="1797622" cy="3384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" dirty="0">
                <a:solidFill>
                  <a:schemeClr val="tx1"/>
                </a:solidFill>
                <a:latin typeface="Arial Black" panose="020B0A04020102020204" pitchFamily="34" charset="0"/>
              </a:rPr>
              <a:t>Open command prompt and change directory to where scan_bscane2.exe/ scan_bscane2.py is located</a:t>
            </a:r>
            <a:endParaRPr lang="en-IN" sz="6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240;p27"/>
          <p:cNvSpPr/>
          <p:nvPr/>
        </p:nvSpPr>
        <p:spPr>
          <a:xfrm>
            <a:off x="363600" y="4874400"/>
            <a:ext cx="204480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2880" bIns="18288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Wadhwani Electronics Lab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87" name="Google Shape;241;p27"/>
          <p:cNvSpPr/>
          <p:nvPr/>
        </p:nvSpPr>
        <p:spPr>
          <a:xfrm>
            <a:off x="0" y="0"/>
            <a:ext cx="7909560" cy="38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>
                <a:solidFill>
                  <a:srgbClr val="FFFFFF"/>
                </a:solidFill>
                <a:latin typeface="Source Sans Pro"/>
                <a:ea typeface="Arial"/>
              </a:rPr>
              <a:t>Difference between verification using Testbench and Scan-Chain</a:t>
            </a:r>
            <a:endParaRPr lang="en-IN" sz="1800" b="0" strike="noStrike" spc="-1">
              <a:latin typeface="Arial"/>
            </a:endParaRPr>
          </a:p>
        </p:txBody>
      </p:sp>
      <p:sp>
        <p:nvSpPr>
          <p:cNvPr id="188" name="Google Shape;242;p27"/>
          <p:cNvSpPr/>
          <p:nvPr/>
        </p:nvSpPr>
        <p:spPr>
          <a:xfrm>
            <a:off x="7104240" y="3409920"/>
            <a:ext cx="1903680" cy="3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89" name="Google Shape;243;p27"/>
          <p:cNvSpPr/>
          <p:nvPr/>
        </p:nvSpPr>
        <p:spPr>
          <a:xfrm>
            <a:off x="3919320" y="4924800"/>
            <a:ext cx="1527480" cy="2185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90" name="Google Shape;244;p27"/>
          <p:cNvSpPr/>
          <p:nvPr/>
        </p:nvSpPr>
        <p:spPr>
          <a:xfrm>
            <a:off x="4934160" y="4847760"/>
            <a:ext cx="299952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8240" bIns="13824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Dept. of EE, IIT Bombay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91" name="Google Shape;245;p27"/>
          <p:cNvSpPr/>
          <p:nvPr/>
        </p:nvSpPr>
        <p:spPr>
          <a:xfrm>
            <a:off x="8649720" y="4924800"/>
            <a:ext cx="90360" cy="1807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92" name="Google Shape;246;p27"/>
          <p:cNvSpPr/>
          <p:nvPr/>
        </p:nvSpPr>
        <p:spPr>
          <a:xfrm>
            <a:off x="356040" y="624240"/>
            <a:ext cx="7371000" cy="121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Testbench -&gt; Hardware is Simulated and design's functionality is checked</a:t>
            </a:r>
            <a:endParaRPr lang="en-IN" sz="1700" b="0" strike="noStrike" spc="-1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Scan-Chain -&gt; Actual hardware is given the inputs and Outputs are then compared</a:t>
            </a:r>
            <a:endParaRPr lang="en-IN" sz="1700" b="0" strike="noStrike" spc="-1"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89;p23"/>
          <p:cNvSpPr/>
          <p:nvPr/>
        </p:nvSpPr>
        <p:spPr>
          <a:xfrm>
            <a:off x="363600" y="4874400"/>
            <a:ext cx="204480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2880" bIns="18288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Wadhwani Electronics Lab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94" name="Google Shape;190;p23"/>
          <p:cNvSpPr/>
          <p:nvPr/>
        </p:nvSpPr>
        <p:spPr>
          <a:xfrm>
            <a:off x="0" y="0"/>
            <a:ext cx="7909560" cy="38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95" name="Google Shape;191;p23"/>
          <p:cNvSpPr/>
          <p:nvPr/>
        </p:nvSpPr>
        <p:spPr>
          <a:xfrm>
            <a:off x="7104240" y="3409920"/>
            <a:ext cx="1903680" cy="3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96" name="Google Shape;192;p23"/>
          <p:cNvSpPr/>
          <p:nvPr/>
        </p:nvSpPr>
        <p:spPr>
          <a:xfrm>
            <a:off x="3919320" y="4924800"/>
            <a:ext cx="1527480" cy="2185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97" name="Google Shape;193;p23"/>
          <p:cNvSpPr/>
          <p:nvPr/>
        </p:nvSpPr>
        <p:spPr>
          <a:xfrm>
            <a:off x="4934160" y="4847760"/>
            <a:ext cx="299952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8240" bIns="13824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Dept. of EE, IIT Bombay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198" name="Google Shape;194;p23"/>
          <p:cNvSpPr/>
          <p:nvPr/>
        </p:nvSpPr>
        <p:spPr>
          <a:xfrm>
            <a:off x="8649720" y="4924800"/>
            <a:ext cx="90360" cy="1807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99" name="Google Shape;196;p23"/>
          <p:cNvSpPr/>
          <p:nvPr/>
        </p:nvSpPr>
        <p:spPr>
          <a:xfrm>
            <a:off x="92880" y="-64080"/>
            <a:ext cx="5770080" cy="51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2200" b="1" strike="noStrike" spc="-1">
                <a:solidFill>
                  <a:srgbClr val="FFFFFF"/>
                </a:solidFill>
                <a:latin typeface="Source Sans Pro"/>
                <a:ea typeface="Source Sans Pro"/>
              </a:rPr>
              <a:t>Steps to run Scan Chain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200" name="TextBox 1"/>
          <p:cNvSpPr/>
          <p:nvPr/>
        </p:nvSpPr>
        <p:spPr>
          <a:xfrm>
            <a:off x="89640" y="541800"/>
            <a:ext cx="8754480" cy="23083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&amp;quot"/>
              </a:rPr>
              <a:t>Install Python, PIP, Python Packages</a:t>
            </a:r>
            <a:endParaRPr lang="en-IN" sz="1800" b="1" strike="noStrike" spc="-1" dirty="0">
              <a:latin typeface="Arial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&amp;quot"/>
              </a:rPr>
              <a:t>Install Python 3.7 or Python 3.8 </a:t>
            </a: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&amp;quot"/>
              </a:rPr>
              <a:t>​</a:t>
            </a:r>
            <a:endParaRPr lang="en-IN" sz="1800" b="0" strike="noStrike" spc="-1" dirty="0">
              <a:latin typeface="Arial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&amp;quot"/>
              </a:rPr>
              <a:t>Install PIP </a:t>
            </a: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&amp;quot"/>
              </a:rPr>
              <a:t>​</a:t>
            </a:r>
            <a:endParaRPr lang="en-IN" sz="1800" b="0" strike="noStrike" spc="-1" dirty="0">
              <a:latin typeface="Arial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&amp;quot"/>
              </a:rPr>
              <a:t>Install the following packages using the commands as shown </a:t>
            </a: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&amp;quot"/>
              </a:rPr>
              <a:t>​</a:t>
            </a:r>
            <a:endParaRPr lang="en-IN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&amp;quot"/>
              </a:rPr>
              <a:t>      ○ pip install bitstring </a:t>
            </a: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&amp;quot"/>
              </a:rPr>
              <a:t>​</a:t>
            </a:r>
            <a:endParaRPr lang="en-IN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&amp;quot"/>
              </a:rPr>
              <a:t>      ○ pip install ftd2xx </a:t>
            </a: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&amp;quot"/>
              </a:rPr>
              <a:t>​</a:t>
            </a:r>
            <a:endParaRPr lang="en-IN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pc="-1" dirty="0">
                <a:solidFill>
                  <a:srgbClr val="000000"/>
                </a:solidFill>
                <a:latin typeface="Source Sans Pro"/>
                <a:ea typeface="&amp;quot"/>
              </a:rPr>
              <a:t> </a:t>
            </a: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&amp;quot"/>
              </a:rPr>
              <a:t>     ○ pip install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Source Sans Pro"/>
                <a:ea typeface="&amp;quot"/>
              </a:rPr>
              <a:t>pyusb</a:t>
            </a:r>
            <a:endParaRPr lang="en-GB" sz="1800" b="0" strike="noStrike" spc="-1" dirty="0">
              <a:solidFill>
                <a:srgbClr val="000000"/>
              </a:solidFill>
              <a:latin typeface="Source Sans Pro"/>
              <a:ea typeface="&amp;quot"/>
            </a:endParaRPr>
          </a:p>
          <a:p>
            <a:pPr>
              <a:lnSpc>
                <a:spcPct val="100000"/>
              </a:lnSpc>
            </a:pPr>
            <a:endParaRPr lang="en-GB" spc="-1" dirty="0">
              <a:solidFill>
                <a:srgbClr val="000000"/>
              </a:solidFill>
              <a:latin typeface="Source Sans Pro"/>
              <a:ea typeface="&amp;quo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2;p24"/>
          <p:cNvSpPr/>
          <p:nvPr/>
        </p:nvSpPr>
        <p:spPr>
          <a:xfrm>
            <a:off x="363600" y="4874400"/>
            <a:ext cx="204480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2880" bIns="18288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Wadhwani Electronics Lab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02" name="Google Shape;203;p24"/>
          <p:cNvSpPr/>
          <p:nvPr/>
        </p:nvSpPr>
        <p:spPr>
          <a:xfrm>
            <a:off x="0" y="0"/>
            <a:ext cx="7909560" cy="38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03" name="Google Shape;204;p24"/>
          <p:cNvSpPr/>
          <p:nvPr/>
        </p:nvSpPr>
        <p:spPr>
          <a:xfrm>
            <a:off x="7104240" y="3409920"/>
            <a:ext cx="1903680" cy="3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04" name="Google Shape;205;p24"/>
          <p:cNvSpPr/>
          <p:nvPr/>
        </p:nvSpPr>
        <p:spPr>
          <a:xfrm>
            <a:off x="3919320" y="4924800"/>
            <a:ext cx="1527480" cy="2185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05" name="Google Shape;206;p24"/>
          <p:cNvSpPr/>
          <p:nvPr/>
        </p:nvSpPr>
        <p:spPr>
          <a:xfrm>
            <a:off x="4934160" y="4847760"/>
            <a:ext cx="299952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8240" bIns="13824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Dept. of EE, IIT Bombay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06" name="Google Shape;207;p24"/>
          <p:cNvSpPr/>
          <p:nvPr/>
        </p:nvSpPr>
        <p:spPr>
          <a:xfrm>
            <a:off x="8649720" y="4924800"/>
            <a:ext cx="90360" cy="1807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07" name="Google Shape;208;p24"/>
          <p:cNvSpPr/>
          <p:nvPr/>
        </p:nvSpPr>
        <p:spPr>
          <a:xfrm>
            <a:off x="363600" y="564120"/>
            <a:ext cx="7395120" cy="295465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marL="133200">
              <a:lnSpc>
                <a:spcPct val="100000"/>
              </a:lnSpc>
              <a:buNone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● Necessary files </a:t>
            </a:r>
            <a:endParaRPr lang="en-IN" sz="1800" b="0" strike="noStrike" spc="-1" dirty="0">
              <a:latin typeface="Arial"/>
            </a:endParaRPr>
          </a:p>
          <a:p>
            <a:pPr marL="133200">
              <a:lnSpc>
                <a:spcPct val="100000"/>
              </a:lnSpc>
              <a:buNone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      ○ DUT wrapped design file and other dependent design files with working RTL simulation</a:t>
            </a:r>
            <a:endParaRPr lang="en-IN" sz="1800" b="0" strike="noStrike" spc="-1" dirty="0">
              <a:latin typeface="Arial"/>
            </a:endParaRPr>
          </a:p>
          <a:p>
            <a:pPr marL="133200">
              <a:lnSpc>
                <a:spcPct val="100000"/>
              </a:lnSpc>
              <a:buNone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      ○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Source Sans Pro"/>
                <a:ea typeface="Source Sans Pro"/>
              </a:rPr>
              <a:t>Tracefile</a:t>
            </a: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 </a:t>
            </a:r>
            <a:endParaRPr lang="en-IN" sz="1800" b="0" strike="noStrike" spc="-1" dirty="0">
              <a:latin typeface="Arial"/>
            </a:endParaRPr>
          </a:p>
          <a:p>
            <a:pPr marL="133200">
              <a:lnSpc>
                <a:spcPct val="100000"/>
              </a:lnSpc>
              <a:buNone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● Files Required for Scan Chain (Shared) </a:t>
            </a:r>
            <a:endParaRPr lang="en-IN" sz="1800" b="0" strike="noStrike" spc="-1" dirty="0">
              <a:latin typeface="Arial"/>
            </a:endParaRPr>
          </a:p>
          <a:p>
            <a:pPr marL="133200">
              <a:lnSpc>
                <a:spcPct val="100000"/>
              </a:lnSpc>
              <a:buNone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      ○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Source Sans Pro"/>
                <a:ea typeface="Source Sans Pro"/>
              </a:rPr>
              <a:t>TopLevel.vhd</a:t>
            </a: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 </a:t>
            </a:r>
            <a:endParaRPr lang="en-IN" sz="1800" b="0" strike="noStrike" spc="-1" dirty="0">
              <a:latin typeface="Arial"/>
            </a:endParaRPr>
          </a:p>
          <a:p>
            <a:pPr marL="133200">
              <a:lnSpc>
                <a:spcPct val="100000"/>
              </a:lnSpc>
              <a:buNone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      ○ scan_bscane2.exe </a:t>
            </a:r>
            <a:r>
              <a:rPr lang="en-GB" spc="-1" dirty="0">
                <a:solidFill>
                  <a:srgbClr val="000000"/>
                </a:solidFill>
                <a:latin typeface="Source Sans Pro"/>
                <a:ea typeface="Source Sans Pro"/>
              </a:rPr>
              <a:t>(Windows only)</a:t>
            </a: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 OR</a:t>
            </a:r>
            <a:endParaRPr lang="en-IN" sz="1800" b="0" strike="noStrike" spc="-1" dirty="0">
              <a:latin typeface="Arial"/>
            </a:endParaRPr>
          </a:p>
          <a:p>
            <a:pPr marL="133200">
              <a:lnSpc>
                <a:spcPct val="100000"/>
              </a:lnSpc>
              <a:buNone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      ○ scan_bscane2.py (Linux / if python available for windows)</a:t>
            </a:r>
            <a:endParaRPr lang="en-IN" sz="1800" b="0" strike="noStrike" spc="-1" dirty="0">
              <a:latin typeface="Arial"/>
            </a:endParaRPr>
          </a:p>
          <a:p>
            <a:pPr marL="133200">
              <a:lnSpc>
                <a:spcPct val="100000"/>
              </a:lnSpc>
              <a:buNone/>
            </a:pP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● Copy these files and paste them in the project directory/wherever </a:t>
            </a:r>
            <a:r>
              <a:rPr lang="en-GB" sz="1800" b="0" strike="noStrike" spc="-1" dirty="0" err="1">
                <a:solidFill>
                  <a:srgbClr val="000000"/>
                </a:solidFill>
                <a:latin typeface="Source Sans Pro"/>
                <a:ea typeface="Source Sans Pro"/>
              </a:rPr>
              <a:t>Tracefile</a:t>
            </a:r>
            <a:r>
              <a:rPr lang="en-GB" sz="18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 is</a:t>
            </a:r>
            <a:endParaRPr lang="en-IN" sz="1800" b="0" strike="noStrike" spc="-1" dirty="0">
              <a:latin typeface="Arial"/>
            </a:endParaRPr>
          </a:p>
        </p:txBody>
      </p:sp>
      <p:sp>
        <p:nvSpPr>
          <p:cNvPr id="208" name="Google Shape;209;p24"/>
          <p:cNvSpPr/>
          <p:nvPr/>
        </p:nvSpPr>
        <p:spPr>
          <a:xfrm>
            <a:off x="107280" y="-64080"/>
            <a:ext cx="5770080" cy="51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2200" b="0" strike="noStrike" spc="-1">
                <a:solidFill>
                  <a:srgbClr val="FFFFFF"/>
                </a:solidFill>
                <a:latin typeface="Source Sans Pro"/>
                <a:ea typeface="Source Sans Pro"/>
              </a:rPr>
              <a:t>Setup Environment </a:t>
            </a:r>
            <a:endParaRPr lang="en-IN" sz="22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15;p25"/>
          <p:cNvSpPr/>
          <p:nvPr/>
        </p:nvSpPr>
        <p:spPr>
          <a:xfrm>
            <a:off x="363600" y="4874400"/>
            <a:ext cx="204480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2880" bIns="18288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Wadhwani Electronics Lab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10" name="Google Shape;216;p25"/>
          <p:cNvSpPr/>
          <p:nvPr/>
        </p:nvSpPr>
        <p:spPr>
          <a:xfrm>
            <a:off x="0" y="0"/>
            <a:ext cx="7909560" cy="38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FFFFFF"/>
                </a:solidFill>
                <a:latin typeface="Source Sans Pro"/>
                <a:ea typeface="Arial"/>
              </a:rPr>
              <a:t>Modifications to </a:t>
            </a:r>
            <a:r>
              <a:rPr lang="en-US" sz="2200" b="0" strike="noStrike" spc="-1" dirty="0" err="1">
                <a:solidFill>
                  <a:srgbClr val="FFFFFF"/>
                </a:solidFill>
                <a:latin typeface="Source Sans Pro"/>
                <a:ea typeface="Arial"/>
              </a:rPr>
              <a:t>Vivado</a:t>
            </a:r>
            <a:r>
              <a:rPr lang="en-US" sz="2200" b="0" strike="noStrike" spc="-1" dirty="0">
                <a:solidFill>
                  <a:srgbClr val="FFFFFF"/>
                </a:solidFill>
                <a:latin typeface="Source Sans Pro"/>
                <a:ea typeface="Arial"/>
              </a:rPr>
              <a:t> Project</a:t>
            </a:r>
            <a:endParaRPr lang="en-IN" sz="2200" b="0" strike="noStrike" spc="-1" dirty="0">
              <a:latin typeface="Arial"/>
            </a:endParaRPr>
          </a:p>
        </p:txBody>
      </p:sp>
      <p:sp>
        <p:nvSpPr>
          <p:cNvPr id="211" name="Google Shape;217;p25"/>
          <p:cNvSpPr/>
          <p:nvPr/>
        </p:nvSpPr>
        <p:spPr>
          <a:xfrm>
            <a:off x="7104240" y="3409920"/>
            <a:ext cx="1903680" cy="3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2" name="Google Shape;218;p25"/>
          <p:cNvSpPr/>
          <p:nvPr/>
        </p:nvSpPr>
        <p:spPr>
          <a:xfrm>
            <a:off x="3919320" y="4924800"/>
            <a:ext cx="1527480" cy="2185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3" name="Google Shape;219;p25"/>
          <p:cNvSpPr/>
          <p:nvPr/>
        </p:nvSpPr>
        <p:spPr>
          <a:xfrm>
            <a:off x="4934160" y="4847760"/>
            <a:ext cx="299952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8240" bIns="13824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Dept. of EE, IIT Bombay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14" name="Google Shape;220;p25"/>
          <p:cNvSpPr/>
          <p:nvPr/>
        </p:nvSpPr>
        <p:spPr>
          <a:xfrm>
            <a:off x="8649720" y="4924800"/>
            <a:ext cx="90360" cy="1807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5" name="Google Shape;221;p25"/>
          <p:cNvSpPr/>
          <p:nvPr/>
        </p:nvSpPr>
        <p:spPr>
          <a:xfrm>
            <a:off x="331920" y="624240"/>
            <a:ext cx="7395120" cy="44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6" name="TextBox 1"/>
          <p:cNvSpPr/>
          <p:nvPr/>
        </p:nvSpPr>
        <p:spPr>
          <a:xfrm>
            <a:off x="248760" y="549000"/>
            <a:ext cx="3668040" cy="39703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wrap="square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Arial"/>
              </a:rPr>
              <a:t>Modifications to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Source Sans Pro"/>
                <a:ea typeface="Arial"/>
              </a:rPr>
              <a:t>Vivado</a:t>
            </a: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Arial"/>
              </a:rPr>
              <a:t> Project </a:t>
            </a:r>
            <a:endParaRPr lang="en-IN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Arial"/>
              </a:rPr>
              <a:t>● Add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Source Sans Pro"/>
                <a:ea typeface="Arial"/>
              </a:rPr>
              <a:t>TopLevel.vhdl</a:t>
            </a: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Arial"/>
              </a:rPr>
              <a:t> to the Project </a:t>
            </a:r>
            <a:endParaRPr lang="en-IN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Arial"/>
              </a:rPr>
              <a:t>● Change the number of inputs and outputs to the design</a:t>
            </a:r>
            <a:endParaRPr lang="en-IN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Arial"/>
              </a:rPr>
              <a:t>● This change is the same as what was done for testbench </a:t>
            </a:r>
            <a:endParaRPr lang="en-IN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Arial"/>
              </a:rPr>
              <a:t>● Right </a:t>
            </a:r>
            <a:r>
              <a:rPr lang="en-US" spc="-1" dirty="0">
                <a:solidFill>
                  <a:srgbClr val="000000"/>
                </a:solidFill>
                <a:latin typeface="Source Sans Pro"/>
                <a:ea typeface="Arial"/>
              </a:rPr>
              <a:t>click on </a:t>
            </a:r>
            <a:r>
              <a:rPr lang="en-US" spc="-1" dirty="0" err="1">
                <a:solidFill>
                  <a:srgbClr val="000000"/>
                </a:solidFill>
                <a:latin typeface="Source Sans Pro"/>
                <a:ea typeface="Arial"/>
              </a:rPr>
              <a:t>TopLevel.vhdl</a:t>
            </a:r>
            <a:r>
              <a:rPr lang="en-US" spc="-1" dirty="0">
                <a:solidFill>
                  <a:srgbClr val="000000"/>
                </a:solidFill>
                <a:latin typeface="Source Sans Pro"/>
                <a:ea typeface="Arial"/>
              </a:rPr>
              <a:t> in sources tab</a:t>
            </a:r>
            <a:endParaRPr lang="en-IN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Arial"/>
              </a:rPr>
              <a:t>● Set top level entity as 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Source Sans Pro"/>
                <a:ea typeface="Arial"/>
              </a:rPr>
              <a:t>TopLevel</a:t>
            </a: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Arial"/>
              </a:rPr>
              <a:t> as shown</a:t>
            </a:r>
          </a:p>
          <a:p>
            <a:r>
              <a:rPr lang="en-US" spc="-1" dirty="0">
                <a:solidFill>
                  <a:srgbClr val="000000"/>
                </a:solidFill>
                <a:latin typeface="Source Sans Pro"/>
                <a:ea typeface="Arial"/>
              </a:rPr>
              <a:t>● Note that the presence or absence of testbench in the project does not matter during scan chain</a:t>
            </a:r>
            <a:endParaRPr lang="en-IN" spc="-1" dirty="0"/>
          </a:p>
          <a:p>
            <a:pPr>
              <a:lnSpc>
                <a:spcPct val="100000"/>
              </a:lnSpc>
              <a:buNone/>
            </a:pPr>
            <a:endParaRPr lang="en-IN" sz="18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5BE5E6-7D83-665C-50C2-902330F5F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9480" y="515757"/>
            <a:ext cx="4865760" cy="416443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40;p27"/>
          <p:cNvSpPr/>
          <p:nvPr/>
        </p:nvSpPr>
        <p:spPr>
          <a:xfrm>
            <a:off x="363600" y="4874400"/>
            <a:ext cx="204480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2880" bIns="18288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Wadhwani Electronics Lab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28" name="Google Shape;241;p27"/>
          <p:cNvSpPr/>
          <p:nvPr/>
        </p:nvSpPr>
        <p:spPr>
          <a:xfrm>
            <a:off x="0" y="0"/>
            <a:ext cx="7909560" cy="38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 dirty="0">
                <a:solidFill>
                  <a:srgbClr val="FFFFFF"/>
                </a:solidFill>
                <a:latin typeface="Source Sans Pro"/>
                <a:ea typeface="Arial"/>
              </a:rPr>
              <a:t>Upload Bitstream on Board</a:t>
            </a:r>
            <a:endParaRPr lang="en-IN" sz="2200" b="0" strike="noStrike" spc="-1" dirty="0">
              <a:latin typeface="Arial"/>
            </a:endParaRPr>
          </a:p>
        </p:txBody>
      </p:sp>
      <p:sp>
        <p:nvSpPr>
          <p:cNvPr id="229" name="Google Shape;242;p27"/>
          <p:cNvSpPr/>
          <p:nvPr/>
        </p:nvSpPr>
        <p:spPr>
          <a:xfrm>
            <a:off x="7104240" y="3409920"/>
            <a:ext cx="1903680" cy="3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30" name="Google Shape;243;p27"/>
          <p:cNvSpPr/>
          <p:nvPr/>
        </p:nvSpPr>
        <p:spPr>
          <a:xfrm>
            <a:off x="3919320" y="4924800"/>
            <a:ext cx="1527480" cy="2185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31" name="Google Shape;244;p27"/>
          <p:cNvSpPr/>
          <p:nvPr/>
        </p:nvSpPr>
        <p:spPr>
          <a:xfrm>
            <a:off x="4934160" y="4847760"/>
            <a:ext cx="299952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8240" bIns="13824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Dept. of EE, IIT Bombay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32" name="Google Shape;245;p27"/>
          <p:cNvSpPr/>
          <p:nvPr/>
        </p:nvSpPr>
        <p:spPr>
          <a:xfrm>
            <a:off x="8649720" y="4924800"/>
            <a:ext cx="90360" cy="1807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33" name="Google Shape;246;p27"/>
          <p:cNvSpPr/>
          <p:nvPr/>
        </p:nvSpPr>
        <p:spPr>
          <a:xfrm>
            <a:off x="331920" y="624240"/>
            <a:ext cx="7395120" cy="44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34" name="TextBox 1"/>
          <p:cNvSpPr/>
          <p:nvPr/>
        </p:nvSpPr>
        <p:spPr>
          <a:xfrm>
            <a:off x="212760" y="621360"/>
            <a:ext cx="8154000" cy="20313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●</a:t>
            </a: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Arial"/>
              </a:rPr>
              <a:t> Note – Pin Planning is not needed.</a:t>
            </a:r>
            <a:endParaRPr lang="en-IN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Arial"/>
              </a:rPr>
              <a:t>● Note – Keeping Testbench in project doesn't matter</a:t>
            </a:r>
            <a:endParaRPr lang="en-IN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● </a:t>
            </a: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Arial"/>
              </a:rPr>
              <a:t>Do a full implementation of the design (note you need to repeat the task since the top level entity has changed) </a:t>
            </a:r>
            <a:endParaRPr lang="en-IN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Arial"/>
              </a:rPr>
              <a:t>● Generate bitstream file again </a:t>
            </a:r>
            <a:endParaRPr lang="en-IN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Arial"/>
              </a:rPr>
              <a:t>● Dump the bitstream file on the Artix-7 Board </a:t>
            </a:r>
            <a:endParaRPr lang="en-IN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Arial"/>
              </a:rPr>
              <a:t>● Close the connection to board in Hardware manager</a:t>
            </a:r>
            <a:endParaRPr lang="en-IN" sz="1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40;p27"/>
          <p:cNvSpPr/>
          <p:nvPr/>
        </p:nvSpPr>
        <p:spPr>
          <a:xfrm>
            <a:off x="363600" y="4874400"/>
            <a:ext cx="204480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2880" bIns="18288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Wadhwani Electronics Lab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36" name="Google Shape;241;p27"/>
          <p:cNvSpPr/>
          <p:nvPr/>
        </p:nvSpPr>
        <p:spPr>
          <a:xfrm>
            <a:off x="0" y="0"/>
            <a:ext cx="7909560" cy="38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FFFFFF"/>
                </a:solidFill>
                <a:latin typeface="Source Sans Pro"/>
                <a:ea typeface="Arial"/>
              </a:rPr>
              <a:t>Run Scan Chain Python Script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237" name="Google Shape;242;p27"/>
          <p:cNvSpPr/>
          <p:nvPr/>
        </p:nvSpPr>
        <p:spPr>
          <a:xfrm>
            <a:off x="7104240" y="3409920"/>
            <a:ext cx="1903680" cy="3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38" name="Google Shape;243;p27"/>
          <p:cNvSpPr/>
          <p:nvPr/>
        </p:nvSpPr>
        <p:spPr>
          <a:xfrm>
            <a:off x="3919320" y="4924800"/>
            <a:ext cx="1527480" cy="2185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39" name="Google Shape;244;p27"/>
          <p:cNvSpPr/>
          <p:nvPr/>
        </p:nvSpPr>
        <p:spPr>
          <a:xfrm>
            <a:off x="4934160" y="4847760"/>
            <a:ext cx="299952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8240" bIns="13824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Dept. of EE, IIT Bombay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40" name="Google Shape;245;p27"/>
          <p:cNvSpPr/>
          <p:nvPr/>
        </p:nvSpPr>
        <p:spPr>
          <a:xfrm>
            <a:off x="8649720" y="4924800"/>
            <a:ext cx="90360" cy="1807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41" name="Google Shape;246;p27"/>
          <p:cNvSpPr/>
          <p:nvPr/>
        </p:nvSpPr>
        <p:spPr>
          <a:xfrm>
            <a:off x="331920" y="624240"/>
            <a:ext cx="7395120" cy="446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42" name="TextBox 1"/>
          <p:cNvSpPr/>
          <p:nvPr/>
        </p:nvSpPr>
        <p:spPr>
          <a:xfrm>
            <a:off x="191160" y="621360"/>
            <a:ext cx="2971426" cy="424731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wrap="square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● </a:t>
            </a: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Arial"/>
              </a:rPr>
              <a:t>Open Command Prompt and change path using cd command </a:t>
            </a:r>
            <a:endParaRPr lang="en-IN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Arial"/>
              </a:rPr>
              <a:t>● In case the project is on C drive, use the following </a:t>
            </a:r>
            <a:endParaRPr lang="en-IN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Arial"/>
              </a:rPr>
              <a:t>     ○ cd ..\.. </a:t>
            </a:r>
            <a:endParaRPr lang="en-IN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Arial"/>
              </a:rPr>
              <a:t>     ○ cd &lt;absolute path of folder&gt; </a:t>
            </a:r>
            <a:endParaRPr lang="en-IN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Arial"/>
              </a:rPr>
              <a:t>● This path can be copied from windows explorer </a:t>
            </a:r>
            <a:endParaRPr lang="en-IN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Arial"/>
              </a:rPr>
              <a:t>● In case you are in D/E/F drives, enter the following </a:t>
            </a:r>
            <a:endParaRPr lang="en-IN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Arial"/>
              </a:rPr>
              <a:t>    ○ D: or E: or F: </a:t>
            </a:r>
            <a:endParaRPr lang="en-IN" sz="18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Source Sans Pro"/>
                <a:ea typeface="Arial"/>
              </a:rPr>
              <a:t>    ○ cd &lt;absolute path of folder&gt;</a:t>
            </a:r>
            <a:endParaRPr lang="en-IN" sz="18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9BCEC2-F4E6-AE95-123E-D698C47FC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801" y="1488240"/>
            <a:ext cx="5120279" cy="23327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0;p27"/>
          <p:cNvSpPr/>
          <p:nvPr/>
        </p:nvSpPr>
        <p:spPr>
          <a:xfrm>
            <a:off x="363600" y="4874400"/>
            <a:ext cx="204480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2880" bIns="18288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Wadhwani Electronics Lab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46" name="Google Shape;241;p27"/>
          <p:cNvSpPr/>
          <p:nvPr/>
        </p:nvSpPr>
        <p:spPr>
          <a:xfrm>
            <a:off x="0" y="0"/>
            <a:ext cx="7909560" cy="38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FFFFFF"/>
                </a:solidFill>
                <a:latin typeface="Source Sans Pro"/>
                <a:ea typeface="Arial"/>
              </a:rPr>
              <a:t>Run Scan Chain Python Script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247" name="Google Shape;242;p27"/>
          <p:cNvSpPr/>
          <p:nvPr/>
        </p:nvSpPr>
        <p:spPr>
          <a:xfrm>
            <a:off x="7104240" y="3409920"/>
            <a:ext cx="1903680" cy="3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48" name="Google Shape;243;p27"/>
          <p:cNvSpPr/>
          <p:nvPr/>
        </p:nvSpPr>
        <p:spPr>
          <a:xfrm>
            <a:off x="3919320" y="4924800"/>
            <a:ext cx="1527480" cy="2185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49" name="Google Shape;244;p27"/>
          <p:cNvSpPr/>
          <p:nvPr/>
        </p:nvSpPr>
        <p:spPr>
          <a:xfrm>
            <a:off x="4934160" y="4847760"/>
            <a:ext cx="299952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8240" bIns="13824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Dept. of EE, IIT Bombay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50" name="Google Shape;245;p27"/>
          <p:cNvSpPr/>
          <p:nvPr/>
        </p:nvSpPr>
        <p:spPr>
          <a:xfrm>
            <a:off x="8649720" y="4924800"/>
            <a:ext cx="90360" cy="1807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51" name="Google Shape;246;p27"/>
          <p:cNvSpPr/>
          <p:nvPr/>
        </p:nvSpPr>
        <p:spPr>
          <a:xfrm>
            <a:off x="331920" y="624240"/>
            <a:ext cx="7395120" cy="33239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700" b="0" strike="noStrike" spc="-1" dirty="0">
                <a:solidFill>
                  <a:srgbClr val="000000"/>
                </a:solidFill>
                <a:latin typeface="Arial"/>
                <a:ea typeface="Source Sans Pro"/>
              </a:rPr>
              <a:t>● </a:t>
            </a:r>
            <a:r>
              <a:rPr lang="en-US" sz="17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Run the following command to observe the output </a:t>
            </a:r>
            <a:endParaRPr lang="en-IN" sz="17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7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     ○ </a:t>
            </a:r>
            <a:r>
              <a:rPr lang="en-US" sz="17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Source Sans Pro"/>
                <a:ea typeface="Source Sans Pro"/>
              </a:rPr>
              <a:t>scan_bscane2.exe TRACEFILE.txt out.txt OR</a:t>
            </a:r>
          </a:p>
          <a:p>
            <a:pPr>
              <a:lnSpc>
                <a:spcPct val="100000"/>
              </a:lnSpc>
              <a:buNone/>
            </a:pPr>
            <a:r>
              <a:rPr lang="en-US" sz="17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     ○ </a:t>
            </a:r>
            <a:r>
              <a:rPr lang="en-US" sz="1700" b="0" strike="noStrike" spc="-1" dirty="0">
                <a:solidFill>
                  <a:srgbClr val="000000"/>
                </a:solidFill>
                <a:highlight>
                  <a:srgbClr val="FFFF00"/>
                </a:highlight>
                <a:latin typeface="Source Sans Pro"/>
                <a:ea typeface="Source Sans Pro"/>
              </a:rPr>
              <a:t>python scan_bscane2.py TRACEFILE.txt out.txt </a:t>
            </a:r>
            <a:endParaRPr lang="en-IN" sz="17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7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● scan_bscane2.exe is the name of the file to run </a:t>
            </a:r>
            <a:endParaRPr lang="en-IN" sz="17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7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● TRACEFILE.txt needs to be a text file in the specified format. It is an input to the exe file</a:t>
            </a:r>
            <a:endParaRPr lang="en-IN" sz="17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7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● In case you have renamed it, write the new file name in the command </a:t>
            </a:r>
            <a:endParaRPr lang="en-IN" sz="17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7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● out.txt is a file that is generated by the code. There need not be an existing file with the name. In case there is, the program will overwrite the file without warnings </a:t>
            </a:r>
            <a:endParaRPr lang="en-IN" sz="17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7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● Check out.txt to find whether your design has successfully passed all test cases or not</a:t>
            </a:r>
            <a:endParaRPr lang="en-IN" sz="17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6094F3-3C41-C852-DEC9-55398B598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32" y="3858058"/>
            <a:ext cx="8719269" cy="8164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40;p27"/>
          <p:cNvSpPr/>
          <p:nvPr/>
        </p:nvSpPr>
        <p:spPr>
          <a:xfrm>
            <a:off x="363600" y="4874400"/>
            <a:ext cx="204480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2880" bIns="18288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Wadhwani Electronics Lab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54" name="Google Shape;241;p27"/>
          <p:cNvSpPr/>
          <p:nvPr/>
        </p:nvSpPr>
        <p:spPr>
          <a:xfrm>
            <a:off x="0" y="0"/>
            <a:ext cx="7909560" cy="38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FFFFFF"/>
                </a:solidFill>
                <a:latin typeface="Source Sans Pro"/>
                <a:ea typeface="Arial"/>
              </a:rPr>
              <a:t>Frequently Encountered Errors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255" name="Google Shape;242;p27"/>
          <p:cNvSpPr/>
          <p:nvPr/>
        </p:nvSpPr>
        <p:spPr>
          <a:xfrm>
            <a:off x="7104240" y="3409920"/>
            <a:ext cx="1903680" cy="3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56" name="Google Shape;243;p27"/>
          <p:cNvSpPr/>
          <p:nvPr/>
        </p:nvSpPr>
        <p:spPr>
          <a:xfrm>
            <a:off x="3919320" y="4924800"/>
            <a:ext cx="1527480" cy="2185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57" name="Google Shape;244;p27"/>
          <p:cNvSpPr/>
          <p:nvPr/>
        </p:nvSpPr>
        <p:spPr>
          <a:xfrm>
            <a:off x="4934160" y="4847760"/>
            <a:ext cx="299952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8240" bIns="13824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Dept. of EE, IIT Bombay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58" name="Google Shape;245;p27"/>
          <p:cNvSpPr/>
          <p:nvPr/>
        </p:nvSpPr>
        <p:spPr>
          <a:xfrm>
            <a:off x="8649720" y="4924800"/>
            <a:ext cx="90360" cy="1807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59" name="Google Shape;246;p27"/>
          <p:cNvSpPr/>
          <p:nvPr/>
        </p:nvSpPr>
        <p:spPr>
          <a:xfrm>
            <a:off x="331920" y="624240"/>
            <a:ext cx="7395120" cy="141577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Arial"/>
                <a:ea typeface="Source Sans Pro"/>
              </a:rPr>
              <a:t>● </a:t>
            </a:r>
            <a:r>
              <a:rPr lang="en-US" sz="16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In case the .exe file is treated as a virus by your antivirus software, then give it permission by allowing the file in settings </a:t>
            </a:r>
            <a:endParaRPr lang="en-IN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● If the issue still persists, the scan_bscane2.py file can be used if python is available</a:t>
            </a:r>
            <a:endParaRPr lang="en-IN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● Verify installation of the pip packages in slide 15 (enter installation command again and you will get something similar to the following if it is installed successfully) </a:t>
            </a:r>
            <a:endParaRPr lang="en-IN" sz="1600" b="0" strike="noStrike" spc="-1" dirty="0">
              <a:latin typeface="Arial"/>
            </a:endParaRPr>
          </a:p>
        </p:txBody>
      </p:sp>
      <p:sp>
        <p:nvSpPr>
          <p:cNvPr id="262" name="TextBox 4"/>
          <p:cNvSpPr/>
          <p:nvPr/>
        </p:nvSpPr>
        <p:spPr>
          <a:xfrm>
            <a:off x="367380" y="2865420"/>
            <a:ext cx="8327520" cy="8309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vertOverflow="overflow" horzOverflow="overflow" numCol="1" spcCol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Source Sans Pro"/>
                <a:ea typeface="&amp;quot"/>
              </a:rPr>
              <a:t>Repeat all steps until the command scan_bscane2.exe TRACEFILE.txt out.txt ​</a:t>
            </a:r>
            <a:endParaRPr lang="en-IN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Source Sans Pro"/>
                <a:ea typeface="&amp;quot"/>
              </a:rPr>
              <a:t>● Enter the following command instead of that </a:t>
            </a:r>
            <a:endParaRPr lang="en-IN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Source Sans Pro"/>
                <a:ea typeface="&amp;quot"/>
              </a:rPr>
              <a:t>       ○ python scan_bscane2.py TRACEFILE.txt out.txt​</a:t>
            </a:r>
            <a:endParaRPr lang="en-IN" sz="16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01D09E-1FF1-FCC6-D3A7-CD832C826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00" y="2065884"/>
            <a:ext cx="8646970" cy="6983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0A55D8-0D41-AC79-2539-F12EDFB0C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400" y="3873383"/>
            <a:ext cx="8646970" cy="69511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40;p27"/>
          <p:cNvSpPr/>
          <p:nvPr/>
        </p:nvSpPr>
        <p:spPr>
          <a:xfrm>
            <a:off x="363600" y="4874400"/>
            <a:ext cx="204480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2880" bIns="18288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Wadhwani Electronics Lab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64" name="Google Shape;241;p27"/>
          <p:cNvSpPr/>
          <p:nvPr/>
        </p:nvSpPr>
        <p:spPr>
          <a:xfrm>
            <a:off x="0" y="0"/>
            <a:ext cx="7909560" cy="38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200" b="0" strike="noStrike" spc="-1">
                <a:solidFill>
                  <a:srgbClr val="FFFFFF"/>
                </a:solidFill>
                <a:latin typeface="Source Sans Pro"/>
                <a:ea typeface="Arial"/>
              </a:rPr>
              <a:t>Frequently Encountered Errors</a:t>
            </a:r>
            <a:endParaRPr lang="en-IN" sz="2200" b="0" strike="noStrike" spc="-1">
              <a:latin typeface="Arial"/>
            </a:endParaRPr>
          </a:p>
        </p:txBody>
      </p:sp>
      <p:sp>
        <p:nvSpPr>
          <p:cNvPr id="266" name="Google Shape;243;p27"/>
          <p:cNvSpPr/>
          <p:nvPr/>
        </p:nvSpPr>
        <p:spPr>
          <a:xfrm>
            <a:off x="3919320" y="4924800"/>
            <a:ext cx="1527480" cy="2185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67" name="Google Shape;244;p27"/>
          <p:cNvSpPr/>
          <p:nvPr/>
        </p:nvSpPr>
        <p:spPr>
          <a:xfrm>
            <a:off x="4934160" y="4847760"/>
            <a:ext cx="299952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8240" bIns="13824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Dept. of EE, IIT Bombay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68" name="Google Shape;245;p27"/>
          <p:cNvSpPr/>
          <p:nvPr/>
        </p:nvSpPr>
        <p:spPr>
          <a:xfrm>
            <a:off x="8649720" y="4924800"/>
            <a:ext cx="90360" cy="1807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69" name="Google Shape;246;p27"/>
          <p:cNvSpPr/>
          <p:nvPr/>
        </p:nvSpPr>
        <p:spPr>
          <a:xfrm>
            <a:off x="331920" y="624240"/>
            <a:ext cx="8676000" cy="9233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tIns="91440" bIns="9144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In case </a:t>
            </a:r>
            <a:r>
              <a:rPr lang="en-US" sz="1600" spc="-1" dirty="0">
                <a:solidFill>
                  <a:srgbClr val="000000"/>
                </a:solidFill>
                <a:latin typeface="Source Sans Pro"/>
                <a:ea typeface="Source Sans Pro"/>
              </a:rPr>
              <a:t>Vivado</a:t>
            </a:r>
            <a:r>
              <a:rPr lang="en-US" sz="16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 throws an error unrelated to your design, then do the following </a:t>
            </a:r>
            <a:endParaRPr lang="en-IN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● Before dumping the bitstream file, open I/O planning in Synthesis tab and auto assign as in image</a:t>
            </a:r>
            <a:endParaRPr lang="en-IN" sz="1600" b="0" strike="noStrike" spc="-1" dirty="0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Source Sans Pro"/>
                <a:ea typeface="Source Sans Pro"/>
              </a:rPr>
              <a:t>● Compile design again, and proceed from slide 16</a:t>
            </a:r>
            <a:endParaRPr lang="en-IN" sz="1600" b="0" strike="noStrike" spc="-1" dirty="0"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285A9AD-CE57-746F-F2E0-A6A1B2D48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7622" y="1793791"/>
            <a:ext cx="4606298" cy="290080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53;p28"/>
          <p:cNvSpPr/>
          <p:nvPr/>
        </p:nvSpPr>
        <p:spPr>
          <a:xfrm>
            <a:off x="363600" y="4874400"/>
            <a:ext cx="2044800" cy="269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2880" bIns="182880" anchor="ctr">
            <a:no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Wadhwani Electronics Lab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72" name="Google Shape;254;p28"/>
          <p:cNvSpPr/>
          <p:nvPr/>
        </p:nvSpPr>
        <p:spPr>
          <a:xfrm>
            <a:off x="0" y="0"/>
            <a:ext cx="7909560" cy="388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73" name="Google Shape;255;p28"/>
          <p:cNvSpPr/>
          <p:nvPr/>
        </p:nvSpPr>
        <p:spPr>
          <a:xfrm>
            <a:off x="7104240" y="3409920"/>
            <a:ext cx="1903680" cy="3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74" name="Google Shape;256;p28"/>
          <p:cNvSpPr/>
          <p:nvPr/>
        </p:nvSpPr>
        <p:spPr>
          <a:xfrm>
            <a:off x="3919320" y="4924800"/>
            <a:ext cx="1527480" cy="218520"/>
          </a:xfrm>
          <a:prstGeom prst="rect">
            <a:avLst/>
          </a:prstGeom>
          <a:solidFill>
            <a:srgbClr val="4A86E8"/>
          </a:solidFill>
          <a:ln w="9525">
            <a:solidFill>
              <a:srgbClr val="4A86E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75" name="Google Shape;257;p28"/>
          <p:cNvSpPr/>
          <p:nvPr/>
        </p:nvSpPr>
        <p:spPr>
          <a:xfrm>
            <a:off x="4934160" y="4847760"/>
            <a:ext cx="2999520" cy="27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38240" bIns="13824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900" b="1" strike="noStrike" spc="-1">
                <a:solidFill>
                  <a:srgbClr val="000000"/>
                </a:solidFill>
                <a:latin typeface="Arial"/>
                <a:ea typeface="Arial"/>
              </a:rPr>
              <a:t>Dept. of EE, IIT Bombay</a:t>
            </a:r>
            <a:endParaRPr lang="en-IN" sz="900" b="0" strike="noStrike" spc="-1">
              <a:latin typeface="Arial"/>
            </a:endParaRPr>
          </a:p>
        </p:txBody>
      </p:sp>
      <p:sp>
        <p:nvSpPr>
          <p:cNvPr id="276" name="Google Shape;258;p28"/>
          <p:cNvSpPr/>
          <p:nvPr/>
        </p:nvSpPr>
        <p:spPr>
          <a:xfrm>
            <a:off x="0" y="1520280"/>
            <a:ext cx="9143640" cy="100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spAutoFit/>
          </a:bodyPr>
          <a:lstStyle/>
          <a:p>
            <a:pPr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5400" b="1" strike="noStrike" spc="-1">
                <a:solidFill>
                  <a:srgbClr val="000000"/>
                </a:solidFill>
                <a:latin typeface="Source Sans Pro"/>
                <a:ea typeface="Source Sans Pro"/>
              </a:rPr>
              <a:t>Questions?</a:t>
            </a:r>
            <a:endParaRPr lang="en-IN" sz="5400" b="0" strike="noStrike" spc="-1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</TotalTime>
  <Words>1530</Words>
  <Application>Microsoft Office PowerPoint</Application>
  <PresentationFormat>On-screen Show (16:9)</PresentationFormat>
  <Paragraphs>193</Paragraphs>
  <Slides>23</Slides>
  <Notes>1</Notes>
  <HiddenSlides>3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Arial Black</vt:lpstr>
      <vt:lpstr>Calibri</vt:lpstr>
      <vt:lpstr>Source Sans Pro</vt:lpstr>
      <vt:lpstr>Symbol</vt:lpstr>
      <vt:lpstr>Times New Roman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dc:description/>
  <cp:lastModifiedBy>Anubhav Bhura</cp:lastModifiedBy>
  <cp:revision>629</cp:revision>
  <dcterms:modified xsi:type="dcterms:W3CDTF">2026-04-25T10:28:00Z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</vt:i4>
  </property>
  <property fmtid="{D5CDD505-2E9C-101B-9397-08002B2CF9AE}" pid="3" name="Notes">
    <vt:i4>24</vt:i4>
  </property>
  <property fmtid="{D5CDD505-2E9C-101B-9397-08002B2CF9AE}" pid="4" name="PresentationFormat">
    <vt:lpwstr>On-screen Show (16:9)</vt:lpwstr>
  </property>
  <property fmtid="{D5CDD505-2E9C-101B-9397-08002B2CF9AE}" pid="5" name="Slides">
    <vt:i4>24</vt:i4>
  </property>
</Properties>
</file>